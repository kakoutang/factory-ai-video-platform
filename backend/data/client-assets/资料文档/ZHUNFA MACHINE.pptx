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62" r:id="rId2"/>
    <p:sldId id="257" r:id="rId3"/>
    <p:sldId id="258" r:id="rId4"/>
    <p:sldId id="265" r:id="rId5"/>
    <p:sldId id="260" r:id="rId6"/>
    <p:sldId id="261" r:id="rId7"/>
    <p:sldId id="263" r:id="rId8"/>
    <p:sldId id="266" r:id="rId9"/>
  </p:sldIdLst>
  <p:sldSz cx="18288000" cy="10287000"/>
  <p:notesSz cx="6858000" cy="9144000"/>
  <p:embeddedFontLst>
    <p:embeddedFont>
      <p:font typeface="思源黑体" panose="020B0500000000000000" pitchFamily="34" charset="-128"/>
      <p:regular r:id=""/>
    </p:embeddedFont>
    <p:embeddedFont>
      <p:font typeface="思源宋体-超粗体" panose="02020900000000000000" pitchFamily="18" charset="-128"/>
      <p:regular r:id=""/>
    </p:embeddedFont>
    <p:embeddedFont>
      <p:font typeface="Calibri" panose="020F0502020204030204" pitchFamily="34" charset="0"/>
      <p:regular r:id="rId10"/>
      <p:bold r:id="rId11"/>
      <p:italic r:id="rId12"/>
      <p:boldItalic r:id="rId13"/>
    </p:embeddedFont>
    <p:embeddedFont>
      <p:font typeface="Montserrat" pitchFamily="2" charset="0"/>
      <p:regular r:id="rId14"/>
      <p:bold r:id="rId15"/>
      <p:italic r:id="rId16"/>
      <p:boldItalic r:id="rId17"/>
    </p:embeddedFont>
    <p:embeddedFont>
      <p:font typeface="Montserrat Bold" pitchFamily="2" charset="0"/>
      <p:regular r:id=""/>
      <p:bold r:id="rId18"/>
    </p:embeddedFont>
    <p:embeddedFont>
      <p:font typeface="Montserrat Ultra-Bold" pitchFamily="2" charset="0"/>
      <p:regular r:id=""/>
      <p:bold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94622" autoAdjust="0"/>
  </p:normalViewPr>
  <p:slideViewPr>
    <p:cSldViewPr>
      <p:cViewPr varScale="1">
        <p:scale>
          <a:sx n="64" d="100"/>
          <a:sy n="64" d="100"/>
        </p:scale>
        <p:origin x="1160"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ableStyles" Target="tableStyle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10/6/23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10/6/23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10/6/23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10/6/23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10/6/23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6" Type="http://schemas.openxmlformats.org/officeDocument/2006/relationships/image" Target="../media/image15.sv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9.sv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4.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3.sv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31.png"/><Relationship Id="rId3" Type="http://schemas.openxmlformats.org/officeDocument/2006/relationships/image" Target="../media/image19.svg"/><Relationship Id="rId7" Type="http://schemas.openxmlformats.org/officeDocument/2006/relationships/image" Target="../media/image21.svg"/><Relationship Id="rId12"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9.png"/><Relationship Id="rId5" Type="http://schemas.openxmlformats.org/officeDocument/2006/relationships/image" Target="../media/image26.svg"/><Relationship Id="rId10" Type="http://schemas.openxmlformats.org/officeDocument/2006/relationships/image" Target="../media/image28.svg"/><Relationship Id="rId4" Type="http://schemas.openxmlformats.org/officeDocument/2006/relationships/image" Target="../media/image25.png"/><Relationship Id="rId9" Type="http://schemas.openxmlformats.org/officeDocument/2006/relationships/image" Target="../media/image27.png"/><Relationship Id="rId14" Type="http://schemas.openxmlformats.org/officeDocument/2006/relationships/image" Target="../media/image32.svg"/></Relationships>
</file>

<file path=ppt/slides/_rels/slide5.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21.svg"/><Relationship Id="rId7" Type="http://schemas.openxmlformats.org/officeDocument/2006/relationships/image" Target="../media/image33.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35.jpeg"/></Relationships>
</file>

<file path=ppt/slides/_rels/slide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4C4BA">
                <a:alpha val="100000"/>
              </a:srgbClr>
            </a:gs>
          </a:gsLst>
          <a:lin ang="2700000"/>
        </a:gradFill>
        <a:effectLst/>
      </p:bgPr>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E36B3E7C-D43A-D471-0A60-6E0D6D26CB3B}"/>
              </a:ext>
            </a:extLst>
          </p:cNvPr>
          <p:cNvSpPr/>
          <p:nvPr/>
        </p:nvSpPr>
        <p:spPr>
          <a:xfrm>
            <a:off x="7880889" y="0"/>
            <a:ext cx="10407111" cy="10240506"/>
          </a:xfrm>
          <a:custGeom>
            <a:avLst/>
            <a:gdLst/>
            <a:ahLst/>
            <a:cxnLst/>
            <a:rect l="l" t="t" r="r" b="b"/>
            <a:pathLst>
              <a:path w="10407111" h="10240506">
                <a:moveTo>
                  <a:pt x="0" y="0"/>
                </a:moveTo>
                <a:lnTo>
                  <a:pt x="10407111" y="0"/>
                </a:lnTo>
                <a:lnTo>
                  <a:pt x="10407111" y="10240506"/>
                </a:lnTo>
                <a:lnTo>
                  <a:pt x="0" y="102405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a:extLst>
              <a:ext uri="{FF2B5EF4-FFF2-40B4-BE49-F238E27FC236}">
                <a16:creationId xmlns:a16="http://schemas.microsoft.com/office/drawing/2014/main" id="{479C802A-285A-D2C3-D93F-BF9DD8C49D36}"/>
              </a:ext>
            </a:extLst>
          </p:cNvPr>
          <p:cNvSpPr/>
          <p:nvPr/>
        </p:nvSpPr>
        <p:spPr>
          <a:xfrm>
            <a:off x="16831160" y="1"/>
            <a:ext cx="1456841" cy="10287000"/>
          </a:xfrm>
          <a:custGeom>
            <a:avLst/>
            <a:gdLst/>
            <a:ahLst/>
            <a:cxnLst/>
            <a:rect l="l" t="t" r="r" b="b"/>
            <a:pathLst>
              <a:path w="1456841" h="10287000">
                <a:moveTo>
                  <a:pt x="0" y="0"/>
                </a:moveTo>
                <a:lnTo>
                  <a:pt x="1456840" y="0"/>
                </a:lnTo>
                <a:lnTo>
                  <a:pt x="1456840" y="10287000"/>
                </a:lnTo>
                <a:lnTo>
                  <a:pt x="0" y="102870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a:extLst>
              <a:ext uri="{FF2B5EF4-FFF2-40B4-BE49-F238E27FC236}">
                <a16:creationId xmlns:a16="http://schemas.microsoft.com/office/drawing/2014/main" id="{2B1E00FF-3CDE-9BAE-CF84-3B2F3E9C8E11}"/>
              </a:ext>
            </a:extLst>
          </p:cNvPr>
          <p:cNvSpPr/>
          <p:nvPr/>
        </p:nvSpPr>
        <p:spPr>
          <a:xfrm>
            <a:off x="16491418" y="8859795"/>
            <a:ext cx="834915" cy="834915"/>
          </a:xfrm>
          <a:custGeom>
            <a:avLst/>
            <a:gdLst/>
            <a:ahLst/>
            <a:cxnLst/>
            <a:rect l="l" t="t" r="r" b="b"/>
            <a:pathLst>
              <a:path w="834915" h="834915">
                <a:moveTo>
                  <a:pt x="0" y="0"/>
                </a:moveTo>
                <a:lnTo>
                  <a:pt x="834916" y="0"/>
                </a:lnTo>
                <a:lnTo>
                  <a:pt x="834916" y="834915"/>
                </a:lnTo>
                <a:lnTo>
                  <a:pt x="0" y="83491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AutoShape 5">
            <a:extLst>
              <a:ext uri="{FF2B5EF4-FFF2-40B4-BE49-F238E27FC236}">
                <a16:creationId xmlns:a16="http://schemas.microsoft.com/office/drawing/2014/main" id="{4259730A-BD74-79A8-237B-B07AFFF69C2B}"/>
              </a:ext>
            </a:extLst>
          </p:cNvPr>
          <p:cNvSpPr/>
          <p:nvPr/>
        </p:nvSpPr>
        <p:spPr>
          <a:xfrm rot="5390758">
            <a:off x="-609204" y="5230676"/>
            <a:ext cx="3543152" cy="0"/>
          </a:xfrm>
          <a:prstGeom prst="line">
            <a:avLst/>
          </a:prstGeom>
          <a:ln w="9525" cap="rnd">
            <a:solidFill>
              <a:srgbClr val="2C2E38"/>
            </a:solidFill>
            <a:prstDash val="solid"/>
            <a:headEnd type="none" w="sm" len="sm"/>
            <a:tailEnd type="none" w="sm" len="sm"/>
          </a:ln>
        </p:spPr>
      </p:sp>
      <p:sp>
        <p:nvSpPr>
          <p:cNvPr id="6" name="Freeform 6">
            <a:extLst>
              <a:ext uri="{FF2B5EF4-FFF2-40B4-BE49-F238E27FC236}">
                <a16:creationId xmlns:a16="http://schemas.microsoft.com/office/drawing/2014/main" id="{BB2868F4-28F4-C1E4-5EE4-AD382932825D}"/>
              </a:ext>
            </a:extLst>
          </p:cNvPr>
          <p:cNvSpPr/>
          <p:nvPr/>
        </p:nvSpPr>
        <p:spPr>
          <a:xfrm>
            <a:off x="2006055" y="6000514"/>
            <a:ext cx="629927" cy="92990"/>
          </a:xfrm>
          <a:custGeom>
            <a:avLst/>
            <a:gdLst/>
            <a:ahLst/>
            <a:cxnLst/>
            <a:rect l="l" t="t" r="r" b="b"/>
            <a:pathLst>
              <a:path w="629927" h="92990">
                <a:moveTo>
                  <a:pt x="0" y="0"/>
                </a:moveTo>
                <a:lnTo>
                  <a:pt x="629927" y="0"/>
                </a:lnTo>
                <a:lnTo>
                  <a:pt x="629927" y="92990"/>
                </a:lnTo>
                <a:lnTo>
                  <a:pt x="0" y="9299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Freeform 7">
            <a:extLst>
              <a:ext uri="{FF2B5EF4-FFF2-40B4-BE49-F238E27FC236}">
                <a16:creationId xmlns:a16="http://schemas.microsoft.com/office/drawing/2014/main" id="{1D915EAD-3A37-74B6-F594-2D7FE0AC6125}"/>
              </a:ext>
            </a:extLst>
          </p:cNvPr>
          <p:cNvSpPr/>
          <p:nvPr/>
        </p:nvSpPr>
        <p:spPr>
          <a:xfrm>
            <a:off x="827383" y="2609622"/>
            <a:ext cx="650929" cy="647692"/>
          </a:xfrm>
          <a:custGeom>
            <a:avLst/>
            <a:gdLst/>
            <a:ahLst/>
            <a:cxnLst/>
            <a:rect l="l" t="t" r="r" b="b"/>
            <a:pathLst>
              <a:path w="650929" h="647692">
                <a:moveTo>
                  <a:pt x="0" y="0"/>
                </a:moveTo>
                <a:lnTo>
                  <a:pt x="650929" y="0"/>
                </a:lnTo>
                <a:lnTo>
                  <a:pt x="650929" y="647692"/>
                </a:lnTo>
                <a:lnTo>
                  <a:pt x="0" y="64769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8" name="Group 8">
            <a:extLst>
              <a:ext uri="{FF2B5EF4-FFF2-40B4-BE49-F238E27FC236}">
                <a16:creationId xmlns:a16="http://schemas.microsoft.com/office/drawing/2014/main" id="{AC57B253-95D9-BF25-1A97-09BAFF12BE6E}"/>
              </a:ext>
            </a:extLst>
          </p:cNvPr>
          <p:cNvGrpSpPr/>
          <p:nvPr/>
        </p:nvGrpSpPr>
        <p:grpSpPr>
          <a:xfrm>
            <a:off x="935902" y="9222966"/>
            <a:ext cx="189915" cy="328854"/>
            <a:chOff x="0" y="0"/>
            <a:chExt cx="253220" cy="438472"/>
          </a:xfrm>
        </p:grpSpPr>
        <p:sp>
          <p:nvSpPr>
            <p:cNvPr id="9" name="Freeform 9">
              <a:extLst>
                <a:ext uri="{FF2B5EF4-FFF2-40B4-BE49-F238E27FC236}">
                  <a16:creationId xmlns:a16="http://schemas.microsoft.com/office/drawing/2014/main" id="{2759574A-F741-8B2F-11F5-F1D4EC86B411}"/>
                </a:ext>
              </a:extLst>
            </p:cNvPr>
            <p:cNvSpPr/>
            <p:nvPr/>
          </p:nvSpPr>
          <p:spPr>
            <a:xfrm>
              <a:off x="0" y="0"/>
              <a:ext cx="253238" cy="438531"/>
            </a:xfrm>
            <a:custGeom>
              <a:avLst/>
              <a:gdLst/>
              <a:ahLst/>
              <a:cxnLst/>
              <a:rect l="l" t="t" r="r" b="b"/>
              <a:pathLst>
                <a:path w="253238" h="438531">
                  <a:moveTo>
                    <a:pt x="253238" y="0"/>
                  </a:moveTo>
                  <a:lnTo>
                    <a:pt x="179705" y="0"/>
                  </a:lnTo>
                  <a:lnTo>
                    <a:pt x="0" y="219202"/>
                  </a:lnTo>
                  <a:lnTo>
                    <a:pt x="179705" y="438531"/>
                  </a:lnTo>
                  <a:lnTo>
                    <a:pt x="253111" y="438531"/>
                  </a:lnTo>
                  <a:lnTo>
                    <a:pt x="73406" y="219202"/>
                  </a:lnTo>
                  <a:close/>
                </a:path>
              </a:pathLst>
            </a:custGeom>
            <a:solidFill>
              <a:srgbClr val="262626"/>
            </a:solidFill>
          </p:spPr>
        </p:sp>
      </p:grpSp>
      <p:sp>
        <p:nvSpPr>
          <p:cNvPr id="10" name="TextBox 10">
            <a:extLst>
              <a:ext uri="{FF2B5EF4-FFF2-40B4-BE49-F238E27FC236}">
                <a16:creationId xmlns:a16="http://schemas.microsoft.com/office/drawing/2014/main" id="{889C6983-B99E-813E-C298-0C19C61C38BE}"/>
              </a:ext>
            </a:extLst>
          </p:cNvPr>
          <p:cNvSpPr txBox="1"/>
          <p:nvPr/>
        </p:nvSpPr>
        <p:spPr>
          <a:xfrm>
            <a:off x="4164578" y="9003934"/>
            <a:ext cx="512101" cy="457068"/>
          </a:xfrm>
          <a:prstGeom prst="rect">
            <a:avLst/>
          </a:prstGeom>
        </p:spPr>
        <p:txBody>
          <a:bodyPr lIns="0" tIns="0" rIns="0" bIns="0" rtlCol="0" anchor="t">
            <a:spAutoFit/>
          </a:bodyPr>
          <a:lstStyle/>
          <a:p>
            <a:pPr algn="ctr">
              <a:lnSpc>
                <a:spcPts val="3600"/>
              </a:lnSpc>
            </a:pPr>
            <a:r>
              <a:rPr lang="en-US" sz="3000">
                <a:solidFill>
                  <a:srgbClr val="262626"/>
                </a:solidFill>
                <a:latin typeface="Montserrat Ultra-Bold"/>
              </a:rPr>
              <a:t>1</a:t>
            </a:r>
          </a:p>
        </p:txBody>
      </p:sp>
      <p:grpSp>
        <p:nvGrpSpPr>
          <p:cNvPr id="11" name="Group 11">
            <a:extLst>
              <a:ext uri="{FF2B5EF4-FFF2-40B4-BE49-F238E27FC236}">
                <a16:creationId xmlns:a16="http://schemas.microsoft.com/office/drawing/2014/main" id="{28CFD518-2839-B76F-90A6-25B754172104}"/>
              </a:ext>
            </a:extLst>
          </p:cNvPr>
          <p:cNvGrpSpPr/>
          <p:nvPr/>
        </p:nvGrpSpPr>
        <p:grpSpPr>
          <a:xfrm>
            <a:off x="3956993" y="8750353"/>
            <a:ext cx="927271" cy="927271"/>
            <a:chOff x="0" y="0"/>
            <a:chExt cx="1236362" cy="1236362"/>
          </a:xfrm>
        </p:grpSpPr>
        <p:sp>
          <p:nvSpPr>
            <p:cNvPr id="12" name="Freeform 12">
              <a:extLst>
                <a:ext uri="{FF2B5EF4-FFF2-40B4-BE49-F238E27FC236}">
                  <a16:creationId xmlns:a16="http://schemas.microsoft.com/office/drawing/2014/main" id="{972A3185-5C76-A4A8-8E8C-0221BB52FB7E}"/>
                </a:ext>
              </a:extLst>
            </p:cNvPr>
            <p:cNvSpPr/>
            <p:nvPr/>
          </p:nvSpPr>
          <p:spPr>
            <a:xfrm>
              <a:off x="0" y="0"/>
              <a:ext cx="1236345" cy="1236472"/>
            </a:xfrm>
            <a:custGeom>
              <a:avLst/>
              <a:gdLst/>
              <a:ahLst/>
              <a:cxnLst/>
              <a:rect l="l" t="t" r="r" b="b"/>
              <a:pathLst>
                <a:path w="1236345" h="1236472">
                  <a:moveTo>
                    <a:pt x="0" y="618236"/>
                  </a:moveTo>
                  <a:cubicBezTo>
                    <a:pt x="0" y="276733"/>
                    <a:pt x="276733" y="0"/>
                    <a:pt x="618236" y="0"/>
                  </a:cubicBezTo>
                  <a:lnTo>
                    <a:pt x="618236" y="12700"/>
                  </a:lnTo>
                  <a:lnTo>
                    <a:pt x="618236" y="0"/>
                  </a:lnTo>
                  <a:cubicBezTo>
                    <a:pt x="959612" y="0"/>
                    <a:pt x="1236345" y="276733"/>
                    <a:pt x="1236345" y="618236"/>
                  </a:cubicBezTo>
                  <a:lnTo>
                    <a:pt x="1223645" y="618236"/>
                  </a:lnTo>
                  <a:lnTo>
                    <a:pt x="1236345" y="618236"/>
                  </a:lnTo>
                  <a:cubicBezTo>
                    <a:pt x="1236345" y="959612"/>
                    <a:pt x="959612" y="1236472"/>
                    <a:pt x="618109" y="1236472"/>
                  </a:cubicBezTo>
                  <a:lnTo>
                    <a:pt x="618109" y="1223772"/>
                  </a:lnTo>
                  <a:lnTo>
                    <a:pt x="618109" y="1236472"/>
                  </a:lnTo>
                  <a:cubicBezTo>
                    <a:pt x="276733" y="1236345"/>
                    <a:pt x="0" y="959612"/>
                    <a:pt x="0" y="618236"/>
                  </a:cubicBezTo>
                  <a:lnTo>
                    <a:pt x="12700" y="618236"/>
                  </a:lnTo>
                  <a:lnTo>
                    <a:pt x="25400" y="618236"/>
                  </a:lnTo>
                  <a:lnTo>
                    <a:pt x="12700" y="618236"/>
                  </a:lnTo>
                  <a:lnTo>
                    <a:pt x="0" y="618236"/>
                  </a:lnTo>
                  <a:moveTo>
                    <a:pt x="25400" y="618236"/>
                  </a:moveTo>
                  <a:cubicBezTo>
                    <a:pt x="25400" y="625221"/>
                    <a:pt x="19685" y="630936"/>
                    <a:pt x="12700" y="630936"/>
                  </a:cubicBezTo>
                  <a:cubicBezTo>
                    <a:pt x="5715" y="630936"/>
                    <a:pt x="0" y="625221"/>
                    <a:pt x="0" y="618236"/>
                  </a:cubicBezTo>
                  <a:cubicBezTo>
                    <a:pt x="0" y="611251"/>
                    <a:pt x="5715" y="605536"/>
                    <a:pt x="12700" y="605536"/>
                  </a:cubicBezTo>
                  <a:cubicBezTo>
                    <a:pt x="19685" y="605536"/>
                    <a:pt x="25400" y="611251"/>
                    <a:pt x="25400" y="618236"/>
                  </a:cubicBezTo>
                  <a:cubicBezTo>
                    <a:pt x="25400" y="945515"/>
                    <a:pt x="290830" y="1210945"/>
                    <a:pt x="618236" y="1210945"/>
                  </a:cubicBezTo>
                  <a:cubicBezTo>
                    <a:pt x="945642" y="1210945"/>
                    <a:pt x="1211072" y="945515"/>
                    <a:pt x="1211072" y="618109"/>
                  </a:cubicBezTo>
                  <a:cubicBezTo>
                    <a:pt x="1211072" y="290703"/>
                    <a:pt x="945515" y="25400"/>
                    <a:pt x="618236" y="25400"/>
                  </a:cubicBezTo>
                  <a:lnTo>
                    <a:pt x="618236" y="12700"/>
                  </a:lnTo>
                  <a:lnTo>
                    <a:pt x="618236" y="25400"/>
                  </a:lnTo>
                  <a:cubicBezTo>
                    <a:pt x="290830" y="25400"/>
                    <a:pt x="25400" y="290830"/>
                    <a:pt x="25400" y="618236"/>
                  </a:cubicBezTo>
                  <a:close/>
                </a:path>
              </a:pathLst>
            </a:custGeom>
            <a:solidFill>
              <a:srgbClr val="262626"/>
            </a:solidFill>
          </p:spPr>
        </p:sp>
      </p:grpSp>
      <p:sp>
        <p:nvSpPr>
          <p:cNvPr id="13" name="AutoShape 13">
            <a:extLst>
              <a:ext uri="{FF2B5EF4-FFF2-40B4-BE49-F238E27FC236}">
                <a16:creationId xmlns:a16="http://schemas.microsoft.com/office/drawing/2014/main" id="{115EB7CF-7D36-B5D6-F77A-E7F0FC005FFE}"/>
              </a:ext>
            </a:extLst>
          </p:cNvPr>
          <p:cNvSpPr/>
          <p:nvPr/>
        </p:nvSpPr>
        <p:spPr>
          <a:xfrm>
            <a:off x="17573983" y="634173"/>
            <a:ext cx="9525" cy="3543140"/>
          </a:xfrm>
          <a:prstGeom prst="line">
            <a:avLst/>
          </a:prstGeom>
          <a:ln w="9525" cap="rnd">
            <a:solidFill>
              <a:srgbClr val="FFFFFF"/>
            </a:solidFill>
            <a:prstDash val="solid"/>
            <a:headEnd type="none" w="sm" len="sm"/>
            <a:tailEnd type="none" w="sm" len="sm"/>
          </a:ln>
        </p:spPr>
      </p:sp>
      <p:sp>
        <p:nvSpPr>
          <p:cNvPr id="14" name="Freeform 14">
            <a:extLst>
              <a:ext uri="{FF2B5EF4-FFF2-40B4-BE49-F238E27FC236}">
                <a16:creationId xmlns:a16="http://schemas.microsoft.com/office/drawing/2014/main" id="{360539EC-450A-D845-FC25-4CC7442AB0B1}"/>
              </a:ext>
            </a:extLst>
          </p:cNvPr>
          <p:cNvSpPr/>
          <p:nvPr/>
        </p:nvSpPr>
        <p:spPr>
          <a:xfrm>
            <a:off x="16267283" y="2559038"/>
            <a:ext cx="259840" cy="1112244"/>
          </a:xfrm>
          <a:custGeom>
            <a:avLst/>
            <a:gdLst/>
            <a:ahLst/>
            <a:cxnLst/>
            <a:rect l="l" t="t" r="r" b="b"/>
            <a:pathLst>
              <a:path w="259840" h="1112244">
                <a:moveTo>
                  <a:pt x="0" y="0"/>
                </a:moveTo>
                <a:lnTo>
                  <a:pt x="259841" y="0"/>
                </a:lnTo>
                <a:lnTo>
                  <a:pt x="259841" y="1112244"/>
                </a:lnTo>
                <a:lnTo>
                  <a:pt x="0" y="111224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5" name="Freeform 15">
            <a:extLst>
              <a:ext uri="{FF2B5EF4-FFF2-40B4-BE49-F238E27FC236}">
                <a16:creationId xmlns:a16="http://schemas.microsoft.com/office/drawing/2014/main" id="{BBE71097-E385-D756-97F2-BD98F3749E5A}"/>
              </a:ext>
            </a:extLst>
          </p:cNvPr>
          <p:cNvSpPr/>
          <p:nvPr/>
        </p:nvSpPr>
        <p:spPr>
          <a:xfrm>
            <a:off x="108390" y="157900"/>
            <a:ext cx="2476518" cy="1842122"/>
          </a:xfrm>
          <a:custGeom>
            <a:avLst/>
            <a:gdLst/>
            <a:ahLst/>
            <a:cxnLst/>
            <a:rect l="l" t="t" r="r" b="b"/>
            <a:pathLst>
              <a:path w="2476518" h="1842122">
                <a:moveTo>
                  <a:pt x="0" y="0"/>
                </a:moveTo>
                <a:lnTo>
                  <a:pt x="2476518" y="0"/>
                </a:lnTo>
                <a:lnTo>
                  <a:pt x="2476518" y="1842122"/>
                </a:lnTo>
                <a:lnTo>
                  <a:pt x="0" y="1842122"/>
                </a:lnTo>
                <a:lnTo>
                  <a:pt x="0" y="0"/>
                </a:lnTo>
                <a:close/>
              </a:path>
            </a:pathLst>
          </a:custGeom>
          <a:blipFill>
            <a:blip r:embed="rId14"/>
            <a:stretch>
              <a:fillRect l="-21376" r="-29891"/>
            </a:stretch>
          </a:blipFill>
        </p:spPr>
      </p:sp>
      <p:sp>
        <p:nvSpPr>
          <p:cNvPr id="16" name="Freeform 16">
            <a:extLst>
              <a:ext uri="{FF2B5EF4-FFF2-40B4-BE49-F238E27FC236}">
                <a16:creationId xmlns:a16="http://schemas.microsoft.com/office/drawing/2014/main" id="{862FCAB5-8D55-7E02-C4FF-58A580312C17}"/>
              </a:ext>
            </a:extLst>
          </p:cNvPr>
          <p:cNvSpPr/>
          <p:nvPr/>
        </p:nvSpPr>
        <p:spPr>
          <a:xfrm>
            <a:off x="9573249" y="3029264"/>
            <a:ext cx="6551159" cy="5830531"/>
          </a:xfrm>
          <a:custGeom>
            <a:avLst/>
            <a:gdLst/>
            <a:ahLst/>
            <a:cxnLst/>
            <a:rect l="l" t="t" r="r" b="b"/>
            <a:pathLst>
              <a:path w="6551159" h="5830531">
                <a:moveTo>
                  <a:pt x="0" y="0"/>
                </a:moveTo>
                <a:lnTo>
                  <a:pt x="6551159" y="0"/>
                </a:lnTo>
                <a:lnTo>
                  <a:pt x="6551159" y="5830531"/>
                </a:lnTo>
                <a:lnTo>
                  <a:pt x="0" y="5830531"/>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7" name="TextBox 17">
            <a:extLst>
              <a:ext uri="{FF2B5EF4-FFF2-40B4-BE49-F238E27FC236}">
                <a16:creationId xmlns:a16="http://schemas.microsoft.com/office/drawing/2014/main" id="{CAC7E70E-EC56-33CE-791D-9369A2237A80}"/>
              </a:ext>
            </a:extLst>
          </p:cNvPr>
          <p:cNvSpPr txBox="1"/>
          <p:nvPr/>
        </p:nvSpPr>
        <p:spPr>
          <a:xfrm>
            <a:off x="10373701" y="1125720"/>
            <a:ext cx="5750707" cy="1228659"/>
          </a:xfrm>
          <a:prstGeom prst="rect">
            <a:avLst/>
          </a:prstGeom>
        </p:spPr>
        <p:txBody>
          <a:bodyPr lIns="0" tIns="0" rIns="0" bIns="0" rtlCol="0" anchor="t">
            <a:spAutoFit/>
          </a:bodyPr>
          <a:lstStyle/>
          <a:p>
            <a:pPr algn="l">
              <a:lnSpc>
                <a:spcPts val="9720"/>
              </a:lnSpc>
            </a:pPr>
            <a:r>
              <a:rPr lang="en-US" sz="8100">
                <a:solidFill>
                  <a:srgbClr val="FFFFFF"/>
                </a:solidFill>
                <a:latin typeface="思源宋体-超粗体"/>
              </a:rPr>
              <a:t>PRODUCT</a:t>
            </a:r>
          </a:p>
        </p:txBody>
      </p:sp>
      <p:sp>
        <p:nvSpPr>
          <p:cNvPr id="18" name="TextBox 18">
            <a:extLst>
              <a:ext uri="{FF2B5EF4-FFF2-40B4-BE49-F238E27FC236}">
                <a16:creationId xmlns:a16="http://schemas.microsoft.com/office/drawing/2014/main" id="{E6445307-61B4-6304-E7D5-FF80571CC0FE}"/>
              </a:ext>
            </a:extLst>
          </p:cNvPr>
          <p:cNvSpPr txBox="1"/>
          <p:nvPr/>
        </p:nvSpPr>
        <p:spPr>
          <a:xfrm>
            <a:off x="10622568" y="9029046"/>
            <a:ext cx="512101" cy="457068"/>
          </a:xfrm>
          <a:prstGeom prst="rect">
            <a:avLst/>
          </a:prstGeom>
        </p:spPr>
        <p:txBody>
          <a:bodyPr lIns="0" tIns="0" rIns="0" bIns="0" rtlCol="0" anchor="t">
            <a:spAutoFit/>
          </a:bodyPr>
          <a:lstStyle/>
          <a:p>
            <a:pPr algn="ctr">
              <a:lnSpc>
                <a:spcPts val="3600"/>
              </a:lnSpc>
            </a:pPr>
            <a:r>
              <a:rPr lang="en-US" sz="3000">
                <a:solidFill>
                  <a:srgbClr val="262626"/>
                </a:solidFill>
                <a:latin typeface="Montserrat Ultra-Bold"/>
              </a:rPr>
              <a:t>3</a:t>
            </a:r>
          </a:p>
        </p:txBody>
      </p:sp>
      <p:sp>
        <p:nvSpPr>
          <p:cNvPr id="19" name="TextBox 19">
            <a:extLst>
              <a:ext uri="{FF2B5EF4-FFF2-40B4-BE49-F238E27FC236}">
                <a16:creationId xmlns:a16="http://schemas.microsoft.com/office/drawing/2014/main" id="{DA60B834-F7A5-E5FA-5893-5EABDF154C94}"/>
              </a:ext>
            </a:extLst>
          </p:cNvPr>
          <p:cNvSpPr txBox="1"/>
          <p:nvPr/>
        </p:nvSpPr>
        <p:spPr>
          <a:xfrm>
            <a:off x="13742649" y="9029046"/>
            <a:ext cx="512101" cy="457068"/>
          </a:xfrm>
          <a:prstGeom prst="rect">
            <a:avLst/>
          </a:prstGeom>
        </p:spPr>
        <p:txBody>
          <a:bodyPr lIns="0" tIns="0" rIns="0" bIns="0" rtlCol="0" anchor="t">
            <a:spAutoFit/>
          </a:bodyPr>
          <a:lstStyle/>
          <a:p>
            <a:pPr algn="ctr">
              <a:lnSpc>
                <a:spcPts val="3600"/>
              </a:lnSpc>
            </a:pPr>
            <a:r>
              <a:rPr lang="en-US" sz="3000">
                <a:solidFill>
                  <a:srgbClr val="262626"/>
                </a:solidFill>
                <a:latin typeface="Montserrat Ultra-Bold"/>
              </a:rPr>
              <a:t>4</a:t>
            </a:r>
          </a:p>
        </p:txBody>
      </p:sp>
      <p:sp>
        <p:nvSpPr>
          <p:cNvPr id="20" name="TextBox 20">
            <a:extLst>
              <a:ext uri="{FF2B5EF4-FFF2-40B4-BE49-F238E27FC236}">
                <a16:creationId xmlns:a16="http://schemas.microsoft.com/office/drawing/2014/main" id="{0644C440-D737-B4A7-204E-13E2CE8A2A82}"/>
              </a:ext>
            </a:extLst>
          </p:cNvPr>
          <p:cNvSpPr txBox="1"/>
          <p:nvPr/>
        </p:nvSpPr>
        <p:spPr>
          <a:xfrm>
            <a:off x="15475602" y="9151078"/>
            <a:ext cx="1147886" cy="266568"/>
          </a:xfrm>
          <a:prstGeom prst="rect">
            <a:avLst/>
          </a:prstGeom>
        </p:spPr>
        <p:txBody>
          <a:bodyPr lIns="0" tIns="0" rIns="0" bIns="0" rtlCol="0" anchor="t">
            <a:spAutoFit/>
          </a:bodyPr>
          <a:lstStyle/>
          <a:p>
            <a:pPr algn="ctr">
              <a:lnSpc>
                <a:spcPts val="2160"/>
              </a:lnSpc>
            </a:pPr>
            <a:r>
              <a:rPr lang="en-US" sz="1800">
                <a:solidFill>
                  <a:srgbClr val="262626"/>
                </a:solidFill>
                <a:latin typeface="Montserrat Ultra-Bold"/>
              </a:rPr>
              <a:t>NEXT</a:t>
            </a:r>
          </a:p>
        </p:txBody>
      </p:sp>
      <p:sp>
        <p:nvSpPr>
          <p:cNvPr id="21" name="TextBox 21">
            <a:extLst>
              <a:ext uri="{FF2B5EF4-FFF2-40B4-BE49-F238E27FC236}">
                <a16:creationId xmlns:a16="http://schemas.microsoft.com/office/drawing/2014/main" id="{D97153BA-CD42-A2C1-B92D-CF9C1BD618C4}"/>
              </a:ext>
            </a:extLst>
          </p:cNvPr>
          <p:cNvSpPr txBox="1"/>
          <p:nvPr/>
        </p:nvSpPr>
        <p:spPr>
          <a:xfrm rot="-5400000">
            <a:off x="331528" y="7950807"/>
            <a:ext cx="1626982" cy="304668"/>
          </a:xfrm>
          <a:prstGeom prst="rect">
            <a:avLst/>
          </a:prstGeom>
        </p:spPr>
        <p:txBody>
          <a:bodyPr lIns="0" tIns="0" rIns="0" bIns="0" rtlCol="0" anchor="t">
            <a:spAutoFit/>
          </a:bodyPr>
          <a:lstStyle/>
          <a:p>
            <a:pPr algn="l">
              <a:lnSpc>
                <a:spcPts val="2520"/>
              </a:lnSpc>
            </a:pPr>
            <a:r>
              <a:rPr lang="en-US" sz="2100">
                <a:solidFill>
                  <a:srgbClr val="F46F25"/>
                </a:solidFill>
                <a:latin typeface="思源宋体-超粗体"/>
              </a:rPr>
              <a:t>PRODUCT</a:t>
            </a:r>
          </a:p>
        </p:txBody>
      </p:sp>
      <p:sp>
        <p:nvSpPr>
          <p:cNvPr id="22" name="TextBox 22">
            <a:extLst>
              <a:ext uri="{FF2B5EF4-FFF2-40B4-BE49-F238E27FC236}">
                <a16:creationId xmlns:a16="http://schemas.microsoft.com/office/drawing/2014/main" id="{D257EEFD-8C95-7ADF-145F-F2653EE6C54C}"/>
              </a:ext>
            </a:extLst>
          </p:cNvPr>
          <p:cNvSpPr txBox="1"/>
          <p:nvPr/>
        </p:nvSpPr>
        <p:spPr>
          <a:xfrm rot="-5400000">
            <a:off x="1038838" y="7989006"/>
            <a:ext cx="981819" cy="266568"/>
          </a:xfrm>
          <a:prstGeom prst="rect">
            <a:avLst/>
          </a:prstGeom>
        </p:spPr>
        <p:txBody>
          <a:bodyPr lIns="0" tIns="0" rIns="0" bIns="0" rtlCol="0" anchor="t">
            <a:spAutoFit/>
          </a:bodyPr>
          <a:lstStyle/>
          <a:p>
            <a:pPr algn="l">
              <a:lnSpc>
                <a:spcPts val="2160"/>
              </a:lnSpc>
            </a:pPr>
            <a:r>
              <a:rPr lang="en-US" sz="1800">
                <a:solidFill>
                  <a:srgbClr val="AFABAB"/>
                </a:solidFill>
                <a:latin typeface="思源宋体-超粗体"/>
              </a:rPr>
              <a:t>PLAN</a:t>
            </a:r>
          </a:p>
        </p:txBody>
      </p:sp>
      <p:sp>
        <p:nvSpPr>
          <p:cNvPr id="23" name="TextBox 23">
            <a:extLst>
              <a:ext uri="{FF2B5EF4-FFF2-40B4-BE49-F238E27FC236}">
                <a16:creationId xmlns:a16="http://schemas.microsoft.com/office/drawing/2014/main" id="{DA82801C-9A19-E470-2DEF-F7C781ED1A5C}"/>
              </a:ext>
            </a:extLst>
          </p:cNvPr>
          <p:cNvSpPr txBox="1"/>
          <p:nvPr/>
        </p:nvSpPr>
        <p:spPr>
          <a:xfrm>
            <a:off x="1009558" y="9925274"/>
            <a:ext cx="5217212" cy="180975"/>
          </a:xfrm>
          <a:prstGeom prst="rect">
            <a:avLst/>
          </a:prstGeom>
        </p:spPr>
        <p:txBody>
          <a:bodyPr lIns="0" tIns="0" rIns="0" bIns="0" rtlCol="0" anchor="t">
            <a:spAutoFit/>
          </a:bodyPr>
          <a:lstStyle/>
          <a:p>
            <a:pPr algn="l">
              <a:lnSpc>
                <a:spcPts val="1440"/>
              </a:lnSpc>
            </a:pPr>
            <a:r>
              <a:rPr lang="en-US" sz="1200">
                <a:solidFill>
                  <a:srgbClr val="000000"/>
                </a:solidFill>
                <a:latin typeface="Montserrat Bold"/>
              </a:rPr>
              <a:t>https://www.jxcat.com/products/11438</a:t>
            </a:r>
          </a:p>
        </p:txBody>
      </p:sp>
      <p:sp>
        <p:nvSpPr>
          <p:cNvPr id="24" name="TextBox 24">
            <a:extLst>
              <a:ext uri="{FF2B5EF4-FFF2-40B4-BE49-F238E27FC236}">
                <a16:creationId xmlns:a16="http://schemas.microsoft.com/office/drawing/2014/main" id="{9C928480-21F8-C3AF-AB93-8B1380D7A36E}"/>
              </a:ext>
            </a:extLst>
          </p:cNvPr>
          <p:cNvSpPr txBox="1"/>
          <p:nvPr/>
        </p:nvSpPr>
        <p:spPr>
          <a:xfrm>
            <a:off x="7391277" y="9029046"/>
            <a:ext cx="512102" cy="457068"/>
          </a:xfrm>
          <a:prstGeom prst="rect">
            <a:avLst/>
          </a:prstGeom>
        </p:spPr>
        <p:txBody>
          <a:bodyPr lIns="0" tIns="0" rIns="0" bIns="0" rtlCol="0" anchor="t">
            <a:spAutoFit/>
          </a:bodyPr>
          <a:lstStyle/>
          <a:p>
            <a:pPr algn="ctr">
              <a:lnSpc>
                <a:spcPts val="3600"/>
              </a:lnSpc>
            </a:pPr>
            <a:r>
              <a:rPr lang="en-US" sz="3000">
                <a:solidFill>
                  <a:srgbClr val="262626"/>
                </a:solidFill>
                <a:latin typeface="Montserrat Ultra-Bold"/>
              </a:rPr>
              <a:t>2</a:t>
            </a:r>
          </a:p>
        </p:txBody>
      </p:sp>
      <p:sp>
        <p:nvSpPr>
          <p:cNvPr id="25" name="TextBox 25">
            <a:extLst>
              <a:ext uri="{FF2B5EF4-FFF2-40B4-BE49-F238E27FC236}">
                <a16:creationId xmlns:a16="http://schemas.microsoft.com/office/drawing/2014/main" id="{3718A893-B7B6-B003-0819-F86C84920B07}"/>
              </a:ext>
            </a:extLst>
          </p:cNvPr>
          <p:cNvSpPr txBox="1"/>
          <p:nvPr/>
        </p:nvSpPr>
        <p:spPr>
          <a:xfrm>
            <a:off x="17051090" y="4314039"/>
            <a:ext cx="960120" cy="533400"/>
          </a:xfrm>
          <a:prstGeom prst="rect">
            <a:avLst/>
          </a:prstGeom>
        </p:spPr>
        <p:txBody>
          <a:bodyPr lIns="0" tIns="0" rIns="0" bIns="0" rtlCol="0" anchor="t">
            <a:spAutoFit/>
          </a:bodyPr>
          <a:lstStyle/>
          <a:p>
            <a:pPr algn="ctr">
              <a:lnSpc>
                <a:spcPts val="2160"/>
              </a:lnSpc>
            </a:pPr>
            <a:r>
              <a:rPr lang="en-US" sz="1800">
                <a:solidFill>
                  <a:srgbClr val="FFFFFF"/>
                </a:solidFill>
                <a:latin typeface="Montserrat Ultra-Bold"/>
              </a:rPr>
              <a:t>BUSI</a:t>
            </a:r>
          </a:p>
          <a:p>
            <a:pPr algn="ctr">
              <a:lnSpc>
                <a:spcPts val="2160"/>
              </a:lnSpc>
            </a:pPr>
            <a:r>
              <a:rPr lang="en-US" sz="1800">
                <a:solidFill>
                  <a:srgbClr val="FFFFFF"/>
                </a:solidFill>
                <a:latin typeface="Montserrat Ultra-Bold"/>
              </a:rPr>
              <a:t>-NESS</a:t>
            </a:r>
          </a:p>
        </p:txBody>
      </p:sp>
      <p:sp>
        <p:nvSpPr>
          <p:cNvPr id="26" name="TextBox 26">
            <a:extLst>
              <a:ext uri="{FF2B5EF4-FFF2-40B4-BE49-F238E27FC236}">
                <a16:creationId xmlns:a16="http://schemas.microsoft.com/office/drawing/2014/main" id="{D8FCB1F7-C684-A811-823F-F281B41D749B}"/>
              </a:ext>
            </a:extLst>
          </p:cNvPr>
          <p:cNvSpPr txBox="1"/>
          <p:nvPr/>
        </p:nvSpPr>
        <p:spPr>
          <a:xfrm>
            <a:off x="1682539" y="7217141"/>
            <a:ext cx="3564610" cy="409575"/>
          </a:xfrm>
          <a:prstGeom prst="rect">
            <a:avLst/>
          </a:prstGeom>
        </p:spPr>
        <p:txBody>
          <a:bodyPr lIns="0" tIns="0" rIns="0" bIns="0" rtlCol="0" anchor="t">
            <a:spAutoFit/>
          </a:bodyPr>
          <a:lstStyle/>
          <a:p>
            <a:pPr algn="l">
              <a:lnSpc>
                <a:spcPts val="3240"/>
              </a:lnSpc>
            </a:pPr>
            <a:r>
              <a:rPr lang="en-US" sz="2700">
                <a:solidFill>
                  <a:srgbClr val="222222"/>
                </a:solidFill>
                <a:latin typeface="思源宋体-超粗体"/>
              </a:rPr>
              <a:t>ZHUNFA MACHINE</a:t>
            </a:r>
          </a:p>
        </p:txBody>
      </p:sp>
      <p:sp>
        <p:nvSpPr>
          <p:cNvPr id="27" name="TextBox 27">
            <a:extLst>
              <a:ext uri="{FF2B5EF4-FFF2-40B4-BE49-F238E27FC236}">
                <a16:creationId xmlns:a16="http://schemas.microsoft.com/office/drawing/2014/main" id="{0DF2F144-C3D3-380B-B0B0-317CD2808643}"/>
              </a:ext>
            </a:extLst>
          </p:cNvPr>
          <p:cNvSpPr txBox="1"/>
          <p:nvPr/>
        </p:nvSpPr>
        <p:spPr>
          <a:xfrm rot="5400000">
            <a:off x="15825816" y="7556348"/>
            <a:ext cx="3477287" cy="285750"/>
          </a:xfrm>
          <a:prstGeom prst="rect">
            <a:avLst/>
          </a:prstGeom>
        </p:spPr>
        <p:txBody>
          <a:bodyPr lIns="0" tIns="0" rIns="0" bIns="0" rtlCol="0" anchor="t">
            <a:spAutoFit/>
          </a:bodyPr>
          <a:lstStyle/>
          <a:p>
            <a:pPr algn="ctr">
              <a:lnSpc>
                <a:spcPts val="2399"/>
              </a:lnSpc>
            </a:pPr>
            <a:r>
              <a:rPr lang="en-US" sz="1999">
                <a:solidFill>
                  <a:srgbClr val="FFFFFF"/>
                </a:solidFill>
                <a:latin typeface="Montserrat Ultra-Bold"/>
              </a:rPr>
              <a:t>Product Brochure</a:t>
            </a:r>
          </a:p>
        </p:txBody>
      </p:sp>
      <p:sp>
        <p:nvSpPr>
          <p:cNvPr id="28" name="TextBox 28">
            <a:extLst>
              <a:ext uri="{FF2B5EF4-FFF2-40B4-BE49-F238E27FC236}">
                <a16:creationId xmlns:a16="http://schemas.microsoft.com/office/drawing/2014/main" id="{6BB8D5CD-9584-2261-52B9-28D800990A9D}"/>
              </a:ext>
            </a:extLst>
          </p:cNvPr>
          <p:cNvSpPr txBox="1"/>
          <p:nvPr/>
        </p:nvSpPr>
        <p:spPr>
          <a:xfrm>
            <a:off x="1663032" y="3247789"/>
            <a:ext cx="8286026" cy="2200275"/>
          </a:xfrm>
          <a:prstGeom prst="rect">
            <a:avLst/>
          </a:prstGeom>
        </p:spPr>
        <p:txBody>
          <a:bodyPr lIns="0" tIns="0" rIns="0" bIns="0" rtlCol="0" anchor="t">
            <a:spAutoFit/>
          </a:bodyPr>
          <a:lstStyle/>
          <a:p>
            <a:pPr algn="l">
              <a:lnSpc>
                <a:spcPts val="8640"/>
              </a:lnSpc>
            </a:pPr>
            <a:r>
              <a:rPr lang="en-US" sz="7200">
                <a:solidFill>
                  <a:srgbClr val="F46F25"/>
                </a:solidFill>
                <a:latin typeface="思源宋体-超粗体"/>
              </a:rPr>
              <a:t>PRODUCT</a:t>
            </a:r>
          </a:p>
          <a:p>
            <a:pPr algn="l">
              <a:lnSpc>
                <a:spcPts val="8640"/>
              </a:lnSpc>
            </a:pPr>
            <a:r>
              <a:rPr lang="en-US" sz="7200">
                <a:solidFill>
                  <a:srgbClr val="F46F25"/>
                </a:solidFill>
                <a:latin typeface="思源宋体-超粗体"/>
              </a:rPr>
              <a:t>INTRODUCTION</a:t>
            </a:r>
          </a:p>
        </p:txBody>
      </p:sp>
      <p:sp>
        <p:nvSpPr>
          <p:cNvPr id="29" name="TextBox 29">
            <a:extLst>
              <a:ext uri="{FF2B5EF4-FFF2-40B4-BE49-F238E27FC236}">
                <a16:creationId xmlns:a16="http://schemas.microsoft.com/office/drawing/2014/main" id="{789BD571-CCC6-94AB-3B24-560AC1C6B5F9}"/>
              </a:ext>
            </a:extLst>
          </p:cNvPr>
          <p:cNvSpPr txBox="1"/>
          <p:nvPr/>
        </p:nvSpPr>
        <p:spPr>
          <a:xfrm>
            <a:off x="1682539" y="6349439"/>
            <a:ext cx="4123506" cy="603123"/>
          </a:xfrm>
          <a:prstGeom prst="rect">
            <a:avLst/>
          </a:prstGeom>
        </p:spPr>
        <p:txBody>
          <a:bodyPr lIns="0" tIns="0" rIns="0" bIns="0" rtlCol="0" anchor="t">
            <a:spAutoFit/>
          </a:bodyPr>
          <a:lstStyle/>
          <a:p>
            <a:pPr>
              <a:lnSpc>
                <a:spcPts val="2496"/>
              </a:lnSpc>
              <a:spcBef>
                <a:spcPct val="0"/>
              </a:spcBef>
            </a:pPr>
            <a:r>
              <a:rPr lang="en-US" sz="1600">
                <a:solidFill>
                  <a:srgbClr val="808080"/>
                </a:solidFill>
                <a:latin typeface="思源黑体"/>
              </a:rPr>
              <a:t>China High-tech Machinery and Equipment Manufacturing Enterprises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4C4BA">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479715" y="6718925"/>
            <a:ext cx="19173636" cy="3781293"/>
          </a:xfrm>
          <a:prstGeom prst="rect">
            <a:avLst/>
          </a:prstGeom>
        </p:spPr>
        <p:txBody>
          <a:bodyPr lIns="0" tIns="0" rIns="0" bIns="0" rtlCol="0" anchor="t">
            <a:spAutoFit/>
          </a:bodyPr>
          <a:lstStyle/>
          <a:p>
            <a:pPr algn="ctr">
              <a:lnSpc>
                <a:spcPts val="29880"/>
              </a:lnSpc>
            </a:pPr>
            <a:r>
              <a:rPr lang="en-US" sz="24900">
                <a:solidFill>
                  <a:srgbClr val="FFFFFF"/>
                </a:solidFill>
                <a:latin typeface="Montserrat Ultra-Bold"/>
              </a:rPr>
              <a:t>CONTENTS</a:t>
            </a:r>
          </a:p>
        </p:txBody>
      </p:sp>
      <p:sp>
        <p:nvSpPr>
          <p:cNvPr id="3" name="TextBox 3"/>
          <p:cNvSpPr txBox="1"/>
          <p:nvPr/>
        </p:nvSpPr>
        <p:spPr>
          <a:xfrm>
            <a:off x="1388244" y="4294795"/>
            <a:ext cx="3724476" cy="1095375"/>
          </a:xfrm>
          <a:prstGeom prst="rect">
            <a:avLst/>
          </a:prstGeom>
        </p:spPr>
        <p:txBody>
          <a:bodyPr lIns="0" tIns="0" rIns="0" bIns="0" rtlCol="0" anchor="t">
            <a:spAutoFit/>
          </a:bodyPr>
          <a:lstStyle/>
          <a:p>
            <a:pPr algn="l">
              <a:lnSpc>
                <a:spcPts val="4320"/>
              </a:lnSpc>
            </a:pPr>
            <a:r>
              <a:rPr lang="en-US" sz="3600">
                <a:solidFill>
                  <a:srgbClr val="2D004B"/>
                </a:solidFill>
                <a:latin typeface="思源宋体-超粗体"/>
              </a:rPr>
              <a:t>Company Introduction</a:t>
            </a:r>
          </a:p>
        </p:txBody>
      </p:sp>
      <p:sp>
        <p:nvSpPr>
          <p:cNvPr id="4" name="Freeform 4"/>
          <p:cNvSpPr/>
          <p:nvPr/>
        </p:nvSpPr>
        <p:spPr>
          <a:xfrm>
            <a:off x="1388244" y="5785234"/>
            <a:ext cx="440824" cy="440824"/>
          </a:xfrm>
          <a:custGeom>
            <a:avLst/>
            <a:gdLst/>
            <a:ahLst/>
            <a:cxnLst/>
            <a:rect l="l" t="t" r="r" b="b"/>
            <a:pathLst>
              <a:path w="440824" h="440824">
                <a:moveTo>
                  <a:pt x="0" y="0"/>
                </a:moveTo>
                <a:lnTo>
                  <a:pt x="440824" y="0"/>
                </a:lnTo>
                <a:lnTo>
                  <a:pt x="440824" y="440825"/>
                </a:lnTo>
                <a:lnTo>
                  <a:pt x="0" y="4408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362075" y="3094598"/>
            <a:ext cx="894044" cy="894044"/>
            <a:chOff x="0" y="0"/>
            <a:chExt cx="1192058" cy="1192058"/>
          </a:xfrm>
        </p:grpSpPr>
        <p:sp>
          <p:nvSpPr>
            <p:cNvPr id="6" name="Freeform 6"/>
            <p:cNvSpPr/>
            <p:nvPr/>
          </p:nvSpPr>
          <p:spPr>
            <a:xfrm>
              <a:off x="0" y="0"/>
              <a:ext cx="1192022" cy="1192022"/>
            </a:xfrm>
            <a:custGeom>
              <a:avLst/>
              <a:gdLst/>
              <a:ahLst/>
              <a:cxnLst/>
              <a:rect l="l" t="t" r="r" b="b"/>
              <a:pathLst>
                <a:path w="1192022" h="1192022">
                  <a:moveTo>
                    <a:pt x="0" y="596011"/>
                  </a:moveTo>
                  <a:cubicBezTo>
                    <a:pt x="0" y="266827"/>
                    <a:pt x="266827" y="0"/>
                    <a:pt x="596011" y="0"/>
                  </a:cubicBezTo>
                  <a:cubicBezTo>
                    <a:pt x="925195" y="0"/>
                    <a:pt x="1192022" y="266827"/>
                    <a:pt x="1192022" y="596011"/>
                  </a:cubicBezTo>
                  <a:cubicBezTo>
                    <a:pt x="1192022" y="925195"/>
                    <a:pt x="925195" y="1192022"/>
                    <a:pt x="596011" y="1192022"/>
                  </a:cubicBezTo>
                  <a:cubicBezTo>
                    <a:pt x="266827" y="1192022"/>
                    <a:pt x="0" y="925195"/>
                    <a:pt x="0" y="596011"/>
                  </a:cubicBezTo>
                  <a:close/>
                </a:path>
              </a:pathLst>
            </a:custGeom>
            <a:solidFill>
              <a:srgbClr val="F46F25"/>
            </a:solidFill>
          </p:spPr>
        </p:sp>
      </p:grpSp>
      <p:sp>
        <p:nvSpPr>
          <p:cNvPr id="7" name="TextBox 7"/>
          <p:cNvSpPr txBox="1"/>
          <p:nvPr/>
        </p:nvSpPr>
        <p:spPr>
          <a:xfrm>
            <a:off x="1530406" y="3317273"/>
            <a:ext cx="784196" cy="409443"/>
          </a:xfrm>
          <a:prstGeom prst="rect">
            <a:avLst/>
          </a:prstGeom>
        </p:spPr>
        <p:txBody>
          <a:bodyPr lIns="0" tIns="0" rIns="0" bIns="0" rtlCol="0" anchor="t">
            <a:spAutoFit/>
          </a:bodyPr>
          <a:lstStyle/>
          <a:p>
            <a:pPr algn="l">
              <a:lnSpc>
                <a:spcPts val="3240"/>
              </a:lnSpc>
            </a:pPr>
            <a:r>
              <a:rPr lang="en-US" sz="2700">
                <a:solidFill>
                  <a:srgbClr val="FFFFFF"/>
                </a:solidFill>
                <a:latin typeface="Montserrat Ultra-Bold"/>
              </a:rPr>
              <a:t>01.</a:t>
            </a:r>
          </a:p>
        </p:txBody>
      </p:sp>
      <p:sp>
        <p:nvSpPr>
          <p:cNvPr id="8" name="TextBox 8"/>
          <p:cNvSpPr txBox="1"/>
          <p:nvPr/>
        </p:nvSpPr>
        <p:spPr>
          <a:xfrm>
            <a:off x="7954432" y="4250657"/>
            <a:ext cx="3724476" cy="1095375"/>
          </a:xfrm>
          <a:prstGeom prst="rect">
            <a:avLst/>
          </a:prstGeom>
        </p:spPr>
        <p:txBody>
          <a:bodyPr lIns="0" tIns="0" rIns="0" bIns="0" rtlCol="0" anchor="t">
            <a:spAutoFit/>
          </a:bodyPr>
          <a:lstStyle/>
          <a:p>
            <a:pPr>
              <a:lnSpc>
                <a:spcPts val="4320"/>
              </a:lnSpc>
            </a:pPr>
            <a:r>
              <a:rPr lang="en-US" sz="3600">
                <a:solidFill>
                  <a:srgbClr val="2D004B"/>
                </a:solidFill>
                <a:latin typeface="思源宋体-超粗体"/>
              </a:rPr>
              <a:t>Product</a:t>
            </a:r>
          </a:p>
          <a:p>
            <a:pPr algn="l">
              <a:lnSpc>
                <a:spcPts val="4320"/>
              </a:lnSpc>
            </a:pPr>
            <a:r>
              <a:rPr lang="en-US" sz="3600">
                <a:solidFill>
                  <a:srgbClr val="2D004B"/>
                </a:solidFill>
                <a:latin typeface="思源宋体-超粗体"/>
              </a:rPr>
              <a:t>Introduction</a:t>
            </a:r>
          </a:p>
        </p:txBody>
      </p:sp>
      <p:sp>
        <p:nvSpPr>
          <p:cNvPr id="9" name="TextBox 9"/>
          <p:cNvSpPr txBox="1"/>
          <p:nvPr/>
        </p:nvSpPr>
        <p:spPr>
          <a:xfrm>
            <a:off x="14369645" y="4294795"/>
            <a:ext cx="3724476" cy="1095375"/>
          </a:xfrm>
          <a:prstGeom prst="rect">
            <a:avLst/>
          </a:prstGeom>
        </p:spPr>
        <p:txBody>
          <a:bodyPr lIns="0" tIns="0" rIns="0" bIns="0" rtlCol="0" anchor="t">
            <a:spAutoFit/>
          </a:bodyPr>
          <a:lstStyle/>
          <a:p>
            <a:pPr>
              <a:lnSpc>
                <a:spcPts val="4320"/>
              </a:lnSpc>
            </a:pPr>
            <a:r>
              <a:rPr lang="en-US" sz="3600">
                <a:solidFill>
                  <a:srgbClr val="2D004B"/>
                </a:solidFill>
                <a:latin typeface="思源宋体-超粗体"/>
              </a:rPr>
              <a:t>Product</a:t>
            </a:r>
          </a:p>
          <a:p>
            <a:pPr algn="l">
              <a:lnSpc>
                <a:spcPts val="4320"/>
              </a:lnSpc>
            </a:pPr>
            <a:r>
              <a:rPr lang="en-US" sz="3600">
                <a:solidFill>
                  <a:srgbClr val="2D004B"/>
                </a:solidFill>
                <a:latin typeface="思源宋体-超粗体"/>
              </a:rPr>
              <a:t>Advantages</a:t>
            </a:r>
          </a:p>
        </p:txBody>
      </p:sp>
      <p:sp>
        <p:nvSpPr>
          <p:cNvPr id="10" name="Freeform 10"/>
          <p:cNvSpPr/>
          <p:nvPr/>
        </p:nvSpPr>
        <p:spPr>
          <a:xfrm>
            <a:off x="7970190" y="5785234"/>
            <a:ext cx="440824" cy="440824"/>
          </a:xfrm>
          <a:custGeom>
            <a:avLst/>
            <a:gdLst/>
            <a:ahLst/>
            <a:cxnLst/>
            <a:rect l="l" t="t" r="r" b="b"/>
            <a:pathLst>
              <a:path w="440824" h="440824">
                <a:moveTo>
                  <a:pt x="0" y="0"/>
                </a:moveTo>
                <a:lnTo>
                  <a:pt x="440824" y="0"/>
                </a:lnTo>
                <a:lnTo>
                  <a:pt x="440824" y="440825"/>
                </a:lnTo>
                <a:lnTo>
                  <a:pt x="0" y="4408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970190" y="3050460"/>
            <a:ext cx="894044" cy="894044"/>
            <a:chOff x="0" y="0"/>
            <a:chExt cx="1192058" cy="1192058"/>
          </a:xfrm>
        </p:grpSpPr>
        <p:sp>
          <p:nvSpPr>
            <p:cNvPr id="12" name="Freeform 12"/>
            <p:cNvSpPr/>
            <p:nvPr/>
          </p:nvSpPr>
          <p:spPr>
            <a:xfrm>
              <a:off x="0" y="0"/>
              <a:ext cx="1192022" cy="1192022"/>
            </a:xfrm>
            <a:custGeom>
              <a:avLst/>
              <a:gdLst/>
              <a:ahLst/>
              <a:cxnLst/>
              <a:rect l="l" t="t" r="r" b="b"/>
              <a:pathLst>
                <a:path w="1192022" h="1192022">
                  <a:moveTo>
                    <a:pt x="0" y="596011"/>
                  </a:moveTo>
                  <a:cubicBezTo>
                    <a:pt x="0" y="266827"/>
                    <a:pt x="266827" y="0"/>
                    <a:pt x="596011" y="0"/>
                  </a:cubicBezTo>
                  <a:cubicBezTo>
                    <a:pt x="925195" y="0"/>
                    <a:pt x="1192022" y="266827"/>
                    <a:pt x="1192022" y="596011"/>
                  </a:cubicBezTo>
                  <a:cubicBezTo>
                    <a:pt x="1192022" y="925195"/>
                    <a:pt x="925195" y="1192022"/>
                    <a:pt x="596011" y="1192022"/>
                  </a:cubicBezTo>
                  <a:cubicBezTo>
                    <a:pt x="266827" y="1192022"/>
                    <a:pt x="0" y="925195"/>
                    <a:pt x="0" y="596011"/>
                  </a:cubicBezTo>
                  <a:close/>
                </a:path>
              </a:pathLst>
            </a:custGeom>
            <a:solidFill>
              <a:srgbClr val="F46F25"/>
            </a:solidFill>
          </p:spPr>
        </p:sp>
      </p:grpSp>
      <p:sp>
        <p:nvSpPr>
          <p:cNvPr id="13" name="TextBox 13"/>
          <p:cNvSpPr txBox="1"/>
          <p:nvPr/>
        </p:nvSpPr>
        <p:spPr>
          <a:xfrm>
            <a:off x="8138521" y="3273135"/>
            <a:ext cx="784196" cy="409443"/>
          </a:xfrm>
          <a:prstGeom prst="rect">
            <a:avLst/>
          </a:prstGeom>
        </p:spPr>
        <p:txBody>
          <a:bodyPr lIns="0" tIns="0" rIns="0" bIns="0" rtlCol="0" anchor="t">
            <a:spAutoFit/>
          </a:bodyPr>
          <a:lstStyle/>
          <a:p>
            <a:pPr algn="l">
              <a:lnSpc>
                <a:spcPts val="3240"/>
              </a:lnSpc>
            </a:pPr>
            <a:r>
              <a:rPr lang="en-US" sz="2700">
                <a:solidFill>
                  <a:srgbClr val="FFFFFF"/>
                </a:solidFill>
                <a:latin typeface="Montserrat Ultra-Bold"/>
              </a:rPr>
              <a:t>02.</a:t>
            </a:r>
          </a:p>
        </p:txBody>
      </p:sp>
      <p:sp>
        <p:nvSpPr>
          <p:cNvPr id="14" name="Freeform 14"/>
          <p:cNvSpPr/>
          <p:nvPr/>
        </p:nvSpPr>
        <p:spPr>
          <a:xfrm>
            <a:off x="14369645" y="5829372"/>
            <a:ext cx="440825" cy="440824"/>
          </a:xfrm>
          <a:custGeom>
            <a:avLst/>
            <a:gdLst/>
            <a:ahLst/>
            <a:cxnLst/>
            <a:rect l="l" t="t" r="r" b="b"/>
            <a:pathLst>
              <a:path w="440825" h="440824">
                <a:moveTo>
                  <a:pt x="0" y="0"/>
                </a:moveTo>
                <a:lnTo>
                  <a:pt x="440825" y="0"/>
                </a:lnTo>
                <a:lnTo>
                  <a:pt x="440825" y="440825"/>
                </a:lnTo>
                <a:lnTo>
                  <a:pt x="0" y="4408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a:off x="14352289" y="3056498"/>
            <a:ext cx="894043" cy="894044"/>
            <a:chOff x="0" y="0"/>
            <a:chExt cx="1192058" cy="1192058"/>
          </a:xfrm>
        </p:grpSpPr>
        <p:sp>
          <p:nvSpPr>
            <p:cNvPr id="16" name="Freeform 16"/>
            <p:cNvSpPr/>
            <p:nvPr/>
          </p:nvSpPr>
          <p:spPr>
            <a:xfrm>
              <a:off x="0" y="0"/>
              <a:ext cx="1192022" cy="1192022"/>
            </a:xfrm>
            <a:custGeom>
              <a:avLst/>
              <a:gdLst/>
              <a:ahLst/>
              <a:cxnLst/>
              <a:rect l="l" t="t" r="r" b="b"/>
              <a:pathLst>
                <a:path w="1192022" h="1192022">
                  <a:moveTo>
                    <a:pt x="0" y="596011"/>
                  </a:moveTo>
                  <a:cubicBezTo>
                    <a:pt x="0" y="266827"/>
                    <a:pt x="266827" y="0"/>
                    <a:pt x="596011" y="0"/>
                  </a:cubicBezTo>
                  <a:cubicBezTo>
                    <a:pt x="925195" y="0"/>
                    <a:pt x="1192022" y="266827"/>
                    <a:pt x="1192022" y="596011"/>
                  </a:cubicBezTo>
                  <a:cubicBezTo>
                    <a:pt x="1192022" y="925195"/>
                    <a:pt x="925195" y="1192022"/>
                    <a:pt x="596011" y="1192022"/>
                  </a:cubicBezTo>
                  <a:cubicBezTo>
                    <a:pt x="266827" y="1192022"/>
                    <a:pt x="0" y="925195"/>
                    <a:pt x="0" y="596011"/>
                  </a:cubicBezTo>
                  <a:close/>
                </a:path>
              </a:pathLst>
            </a:custGeom>
            <a:solidFill>
              <a:srgbClr val="F46F25"/>
            </a:solidFill>
          </p:spPr>
        </p:sp>
      </p:grpSp>
      <p:sp>
        <p:nvSpPr>
          <p:cNvPr id="17" name="TextBox 17"/>
          <p:cNvSpPr txBox="1"/>
          <p:nvPr/>
        </p:nvSpPr>
        <p:spPr>
          <a:xfrm>
            <a:off x="14520620" y="3279173"/>
            <a:ext cx="784196" cy="409443"/>
          </a:xfrm>
          <a:prstGeom prst="rect">
            <a:avLst/>
          </a:prstGeom>
        </p:spPr>
        <p:txBody>
          <a:bodyPr lIns="0" tIns="0" rIns="0" bIns="0" rtlCol="0" anchor="t">
            <a:spAutoFit/>
          </a:bodyPr>
          <a:lstStyle/>
          <a:p>
            <a:pPr algn="l">
              <a:lnSpc>
                <a:spcPts val="3240"/>
              </a:lnSpc>
            </a:pPr>
            <a:r>
              <a:rPr lang="en-US" sz="2700">
                <a:solidFill>
                  <a:srgbClr val="FFFFFF"/>
                </a:solidFill>
                <a:latin typeface="Montserrat Ultra-Bold"/>
              </a:rPr>
              <a:t>03.</a:t>
            </a:r>
          </a:p>
        </p:txBody>
      </p:sp>
      <p:sp>
        <p:nvSpPr>
          <p:cNvPr id="18" name="Freeform 18"/>
          <p:cNvSpPr/>
          <p:nvPr/>
        </p:nvSpPr>
        <p:spPr>
          <a:xfrm>
            <a:off x="-2" y="9434378"/>
            <a:ext cx="18288002" cy="852621"/>
          </a:xfrm>
          <a:custGeom>
            <a:avLst/>
            <a:gdLst/>
            <a:ahLst/>
            <a:cxnLst/>
            <a:rect l="l" t="t" r="r" b="b"/>
            <a:pathLst>
              <a:path w="18288002" h="852621">
                <a:moveTo>
                  <a:pt x="0" y="0"/>
                </a:moveTo>
                <a:lnTo>
                  <a:pt x="18288001" y="0"/>
                </a:lnTo>
                <a:lnTo>
                  <a:pt x="18288001" y="852621"/>
                </a:lnTo>
                <a:lnTo>
                  <a:pt x="0" y="8526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TextBox 19"/>
          <p:cNvSpPr txBox="1"/>
          <p:nvPr/>
        </p:nvSpPr>
        <p:spPr>
          <a:xfrm>
            <a:off x="14952666" y="526065"/>
            <a:ext cx="3367145" cy="266700"/>
          </a:xfrm>
          <a:prstGeom prst="rect">
            <a:avLst/>
          </a:prstGeom>
        </p:spPr>
        <p:txBody>
          <a:bodyPr lIns="0" tIns="0" rIns="0" bIns="0" rtlCol="0" anchor="t">
            <a:spAutoFit/>
          </a:bodyPr>
          <a:lstStyle/>
          <a:p>
            <a:pPr algn="ctr">
              <a:lnSpc>
                <a:spcPts val="2160"/>
              </a:lnSpc>
            </a:pPr>
            <a:r>
              <a:rPr lang="en-US" sz="1800">
                <a:solidFill>
                  <a:srgbClr val="262626"/>
                </a:solidFill>
                <a:latin typeface="Montserrat Ultra-Bold"/>
              </a:rPr>
              <a:t>Product Brochure</a:t>
            </a:r>
          </a:p>
        </p:txBody>
      </p:sp>
      <p:sp>
        <p:nvSpPr>
          <p:cNvPr id="20" name="AutoShape 20"/>
          <p:cNvSpPr/>
          <p:nvPr/>
        </p:nvSpPr>
        <p:spPr>
          <a:xfrm flipV="1">
            <a:off x="2728062" y="788003"/>
            <a:ext cx="12456977" cy="0"/>
          </a:xfrm>
          <a:prstGeom prst="line">
            <a:avLst/>
          </a:prstGeom>
          <a:ln w="9525" cap="rnd">
            <a:solidFill>
              <a:srgbClr val="000000"/>
            </a:solidFill>
            <a:prstDash val="solid"/>
            <a:headEnd type="none" w="sm" len="sm"/>
            <a:tailEnd type="none" w="sm" len="sm"/>
          </a:ln>
        </p:spPr>
      </p:sp>
      <p:sp>
        <p:nvSpPr>
          <p:cNvPr id="21" name="TextBox 21"/>
          <p:cNvSpPr txBox="1"/>
          <p:nvPr/>
        </p:nvSpPr>
        <p:spPr>
          <a:xfrm>
            <a:off x="15664555" y="9765439"/>
            <a:ext cx="2096191" cy="266700"/>
          </a:xfrm>
          <a:prstGeom prst="rect">
            <a:avLst/>
          </a:prstGeom>
        </p:spPr>
        <p:txBody>
          <a:bodyPr lIns="0" tIns="0" rIns="0" bIns="0" rtlCol="0" anchor="t">
            <a:spAutoFit/>
          </a:bodyPr>
          <a:lstStyle/>
          <a:p>
            <a:pPr algn="r">
              <a:lnSpc>
                <a:spcPts val="2160"/>
              </a:lnSpc>
            </a:pPr>
            <a:r>
              <a:rPr lang="en-US" sz="1800">
                <a:solidFill>
                  <a:srgbClr val="000000"/>
                </a:solidFill>
                <a:latin typeface="Montserrat Bold"/>
              </a:rPr>
              <a:t>1</a:t>
            </a:r>
          </a:p>
        </p:txBody>
      </p:sp>
      <p:sp>
        <p:nvSpPr>
          <p:cNvPr id="22" name="Freeform 22"/>
          <p:cNvSpPr/>
          <p:nvPr/>
        </p:nvSpPr>
        <p:spPr>
          <a:xfrm>
            <a:off x="7233" y="28199"/>
            <a:ext cx="2042934" cy="1519607"/>
          </a:xfrm>
          <a:custGeom>
            <a:avLst/>
            <a:gdLst/>
            <a:ahLst/>
            <a:cxnLst/>
            <a:rect l="l" t="t" r="r" b="b"/>
            <a:pathLst>
              <a:path w="2042934" h="1519607">
                <a:moveTo>
                  <a:pt x="0" y="0"/>
                </a:moveTo>
                <a:lnTo>
                  <a:pt x="2042934" y="0"/>
                </a:lnTo>
                <a:lnTo>
                  <a:pt x="2042934" y="1519607"/>
                </a:lnTo>
                <a:lnTo>
                  <a:pt x="0" y="1519607"/>
                </a:lnTo>
                <a:lnTo>
                  <a:pt x="0" y="0"/>
                </a:lnTo>
                <a:close/>
              </a:path>
            </a:pathLst>
          </a:custGeom>
          <a:blipFill>
            <a:blip r:embed="rId6"/>
            <a:stretch>
              <a:fillRect l="-21376" r="-29891"/>
            </a:stretch>
          </a:blipFill>
        </p:spPr>
      </p:sp>
      <p:sp>
        <p:nvSpPr>
          <p:cNvPr id="23" name="燕尾形 22">
            <a:extLst>
              <a:ext uri="{FF2B5EF4-FFF2-40B4-BE49-F238E27FC236}">
                <a16:creationId xmlns:a16="http://schemas.microsoft.com/office/drawing/2014/main" id="{750E5E0E-432E-5AAE-99E3-2C68EF373A38}"/>
              </a:ext>
            </a:extLst>
          </p:cNvPr>
          <p:cNvSpPr/>
          <p:nvPr/>
        </p:nvSpPr>
        <p:spPr>
          <a:xfrm>
            <a:off x="5334000" y="4288757"/>
            <a:ext cx="533400" cy="848705"/>
          </a:xfrm>
          <a:prstGeom prst="chevron">
            <a:avLst/>
          </a:prstGeom>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4" name="燕尾形 23">
            <a:extLst>
              <a:ext uri="{FF2B5EF4-FFF2-40B4-BE49-F238E27FC236}">
                <a16:creationId xmlns:a16="http://schemas.microsoft.com/office/drawing/2014/main" id="{DA650897-E0E1-9CB9-873B-47ADD328D38F}"/>
              </a:ext>
            </a:extLst>
          </p:cNvPr>
          <p:cNvSpPr/>
          <p:nvPr/>
        </p:nvSpPr>
        <p:spPr>
          <a:xfrm>
            <a:off x="5707680" y="4284225"/>
            <a:ext cx="533400" cy="848705"/>
          </a:xfrm>
          <a:prstGeom prst="chevron">
            <a:avLst/>
          </a:prstGeom>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5" name="燕尾形 24">
            <a:extLst>
              <a:ext uri="{FF2B5EF4-FFF2-40B4-BE49-F238E27FC236}">
                <a16:creationId xmlns:a16="http://schemas.microsoft.com/office/drawing/2014/main" id="{3FC12904-B09F-6555-90BE-89378D71D7BE}"/>
              </a:ext>
            </a:extLst>
          </p:cNvPr>
          <p:cNvSpPr/>
          <p:nvPr/>
        </p:nvSpPr>
        <p:spPr>
          <a:xfrm>
            <a:off x="11930356" y="4303109"/>
            <a:ext cx="533400" cy="848705"/>
          </a:xfrm>
          <a:prstGeom prst="chevron">
            <a:avLst/>
          </a:prstGeom>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6" name="燕尾形 25">
            <a:extLst>
              <a:ext uri="{FF2B5EF4-FFF2-40B4-BE49-F238E27FC236}">
                <a16:creationId xmlns:a16="http://schemas.microsoft.com/office/drawing/2014/main" id="{089213F4-02F1-0427-F6DB-7F061C4DE24F}"/>
              </a:ext>
            </a:extLst>
          </p:cNvPr>
          <p:cNvSpPr/>
          <p:nvPr/>
        </p:nvSpPr>
        <p:spPr>
          <a:xfrm>
            <a:off x="12304036" y="4298577"/>
            <a:ext cx="533400" cy="848705"/>
          </a:xfrm>
          <a:prstGeom prst="chevron">
            <a:avLst/>
          </a:prstGeom>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4C4BA">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7112799" y="1790440"/>
            <a:ext cx="259840" cy="1112244"/>
          </a:xfrm>
          <a:custGeom>
            <a:avLst/>
            <a:gdLst/>
            <a:ahLst/>
            <a:cxnLst/>
            <a:rect l="l" t="t" r="r" b="b"/>
            <a:pathLst>
              <a:path w="259840" h="1112244">
                <a:moveTo>
                  <a:pt x="0" y="0"/>
                </a:moveTo>
                <a:lnTo>
                  <a:pt x="259840" y="0"/>
                </a:lnTo>
                <a:lnTo>
                  <a:pt x="259840" y="1112244"/>
                </a:lnTo>
                <a:lnTo>
                  <a:pt x="0" y="11122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 y="9410700"/>
            <a:ext cx="18288002" cy="876299"/>
          </a:xfrm>
          <a:custGeom>
            <a:avLst/>
            <a:gdLst/>
            <a:ahLst/>
            <a:cxnLst/>
            <a:rect l="l" t="t" r="r" b="b"/>
            <a:pathLst>
              <a:path w="18288002" h="1187344">
                <a:moveTo>
                  <a:pt x="0" y="0"/>
                </a:moveTo>
                <a:lnTo>
                  <a:pt x="18288002" y="0"/>
                </a:lnTo>
                <a:lnTo>
                  <a:pt x="18288002" y="1187344"/>
                </a:lnTo>
                <a:lnTo>
                  <a:pt x="0" y="11873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050167" y="554640"/>
            <a:ext cx="5549212" cy="466725"/>
          </a:xfrm>
          <a:prstGeom prst="rect">
            <a:avLst/>
          </a:prstGeom>
        </p:spPr>
        <p:txBody>
          <a:bodyPr lIns="0" tIns="0" rIns="0" bIns="0" rtlCol="0" anchor="t">
            <a:spAutoFit/>
          </a:bodyPr>
          <a:lstStyle/>
          <a:p>
            <a:pPr algn="l">
              <a:lnSpc>
                <a:spcPts val="3600"/>
              </a:lnSpc>
            </a:pPr>
            <a:r>
              <a:rPr lang="en-US" sz="3000">
                <a:solidFill>
                  <a:srgbClr val="F46F25"/>
                </a:solidFill>
                <a:latin typeface="思源宋体-超粗体"/>
              </a:rPr>
              <a:t>PART ONE</a:t>
            </a:r>
          </a:p>
        </p:txBody>
      </p:sp>
      <p:sp>
        <p:nvSpPr>
          <p:cNvPr id="5" name="AutoShape 5"/>
          <p:cNvSpPr/>
          <p:nvPr/>
        </p:nvSpPr>
        <p:spPr>
          <a:xfrm rot="5390758">
            <a:off x="-834930" y="5230676"/>
            <a:ext cx="3543152" cy="0"/>
          </a:xfrm>
          <a:prstGeom prst="line">
            <a:avLst/>
          </a:prstGeom>
          <a:ln w="9525" cap="rnd">
            <a:solidFill>
              <a:srgbClr val="2C2E38"/>
            </a:solidFill>
            <a:prstDash val="solid"/>
            <a:headEnd type="none" w="sm" len="sm"/>
            <a:tailEnd type="none" w="sm" len="sm"/>
          </a:ln>
        </p:spPr>
      </p:sp>
      <p:sp>
        <p:nvSpPr>
          <p:cNvPr id="6" name="Freeform 6"/>
          <p:cNvSpPr/>
          <p:nvPr/>
        </p:nvSpPr>
        <p:spPr>
          <a:xfrm>
            <a:off x="7233" y="28199"/>
            <a:ext cx="2042934" cy="1519607"/>
          </a:xfrm>
          <a:custGeom>
            <a:avLst/>
            <a:gdLst/>
            <a:ahLst/>
            <a:cxnLst/>
            <a:rect l="l" t="t" r="r" b="b"/>
            <a:pathLst>
              <a:path w="2042934" h="1519607">
                <a:moveTo>
                  <a:pt x="0" y="0"/>
                </a:moveTo>
                <a:lnTo>
                  <a:pt x="2042934" y="0"/>
                </a:lnTo>
                <a:lnTo>
                  <a:pt x="2042934" y="1519607"/>
                </a:lnTo>
                <a:lnTo>
                  <a:pt x="0" y="1519607"/>
                </a:lnTo>
                <a:lnTo>
                  <a:pt x="0" y="0"/>
                </a:lnTo>
                <a:close/>
              </a:path>
            </a:pathLst>
          </a:custGeom>
          <a:blipFill>
            <a:blip r:embed="rId6"/>
            <a:stretch>
              <a:fillRect l="-21376" r="-29891"/>
            </a:stretch>
          </a:blipFill>
        </p:spPr>
      </p:sp>
      <p:sp>
        <p:nvSpPr>
          <p:cNvPr id="7" name="Freeform 7"/>
          <p:cNvSpPr/>
          <p:nvPr/>
        </p:nvSpPr>
        <p:spPr>
          <a:xfrm>
            <a:off x="8943111" y="2453032"/>
            <a:ext cx="8169687" cy="5652140"/>
          </a:xfrm>
          <a:custGeom>
            <a:avLst/>
            <a:gdLst/>
            <a:ahLst/>
            <a:cxnLst/>
            <a:rect l="l" t="t" r="r" b="b"/>
            <a:pathLst>
              <a:path w="8169687" h="5652140">
                <a:moveTo>
                  <a:pt x="0" y="0"/>
                </a:moveTo>
                <a:lnTo>
                  <a:pt x="8169688" y="0"/>
                </a:lnTo>
                <a:lnTo>
                  <a:pt x="8169688" y="5652140"/>
                </a:lnTo>
                <a:lnTo>
                  <a:pt x="0" y="5652140"/>
                </a:lnTo>
                <a:lnTo>
                  <a:pt x="0" y="0"/>
                </a:lnTo>
                <a:close/>
              </a:path>
            </a:pathLst>
          </a:custGeom>
          <a:blipFill>
            <a:blip r:embed="rId7"/>
            <a:stretch>
              <a:fillRect/>
            </a:stretch>
          </a:blipFill>
        </p:spPr>
      </p:sp>
      <p:sp>
        <p:nvSpPr>
          <p:cNvPr id="8" name="TextBox 8"/>
          <p:cNvSpPr txBox="1"/>
          <p:nvPr/>
        </p:nvSpPr>
        <p:spPr>
          <a:xfrm>
            <a:off x="302597" y="1746487"/>
            <a:ext cx="8351169" cy="600075"/>
          </a:xfrm>
          <a:prstGeom prst="rect">
            <a:avLst/>
          </a:prstGeom>
        </p:spPr>
        <p:txBody>
          <a:bodyPr lIns="0" tIns="0" rIns="0" bIns="0" rtlCol="0" anchor="t">
            <a:spAutoFit/>
          </a:bodyPr>
          <a:lstStyle/>
          <a:p>
            <a:pPr algn="l">
              <a:lnSpc>
                <a:spcPts val="4799"/>
              </a:lnSpc>
            </a:pPr>
            <a:r>
              <a:rPr lang="en-US" sz="3999">
                <a:solidFill>
                  <a:srgbClr val="2C2E38"/>
                </a:solidFill>
                <a:latin typeface="思源宋体-超粗体"/>
              </a:rPr>
              <a:t>Company Introduction</a:t>
            </a:r>
          </a:p>
        </p:txBody>
      </p:sp>
      <p:sp>
        <p:nvSpPr>
          <p:cNvPr id="9" name="TextBox 9"/>
          <p:cNvSpPr txBox="1"/>
          <p:nvPr/>
        </p:nvSpPr>
        <p:spPr>
          <a:xfrm>
            <a:off x="1240218" y="2574063"/>
            <a:ext cx="6954693" cy="5932932"/>
          </a:xfrm>
          <a:prstGeom prst="rect">
            <a:avLst/>
          </a:prstGeom>
        </p:spPr>
        <p:txBody>
          <a:bodyPr lIns="0" tIns="0" rIns="0" bIns="0" rtlCol="0" anchor="t">
            <a:spAutoFit/>
          </a:bodyPr>
          <a:lstStyle/>
          <a:p>
            <a:pPr algn="just">
              <a:lnSpc>
                <a:spcPts val="2963"/>
              </a:lnSpc>
            </a:pPr>
            <a:r>
              <a:rPr lang="en-US" sz="1899">
                <a:solidFill>
                  <a:srgbClr val="222222"/>
                </a:solidFill>
                <a:latin typeface="思源黑体"/>
              </a:rPr>
              <a:t>Zhunfa Machine is a high-tech machinery and equipment manufacturing enterprise integrating integrated integrated machinery design, research and development, manufacture, sales, and installation services. Sales and installation services are a high-tech machinery and equipment manufacturing enterprise. Focusing on woodworking machinery aluminum processing machinery and equipment research and development and production for nearly a decade, has become China's leading professional manufacturer of woodworking machinery and aluminum machinery and equipment. </a:t>
            </a:r>
          </a:p>
          <a:p>
            <a:pPr algn="just">
              <a:lnSpc>
                <a:spcPts val="2963"/>
              </a:lnSpc>
            </a:pPr>
            <a:endParaRPr lang="en-US" sz="1899">
              <a:solidFill>
                <a:srgbClr val="222222"/>
              </a:solidFill>
              <a:latin typeface="思源黑体"/>
            </a:endParaRPr>
          </a:p>
          <a:p>
            <a:pPr algn="just">
              <a:lnSpc>
                <a:spcPts val="2963"/>
              </a:lnSpc>
            </a:pPr>
            <a:r>
              <a:rPr lang="en-US" sz="1899">
                <a:solidFill>
                  <a:srgbClr val="222222"/>
                </a:solidFill>
                <a:latin typeface="思源黑体"/>
              </a:rPr>
              <a:t>Enterprises strictly implement international quality standards to produce each product, and its business throughout most of the domestic market, and exported to many countries and regions in Asia!</a:t>
            </a:r>
          </a:p>
        </p:txBody>
      </p:sp>
      <p:sp>
        <p:nvSpPr>
          <p:cNvPr id="10" name="TextBox 10"/>
          <p:cNvSpPr txBox="1"/>
          <p:nvPr/>
        </p:nvSpPr>
        <p:spPr>
          <a:xfrm rot="-5400000">
            <a:off x="122894" y="7882940"/>
            <a:ext cx="1626982" cy="314193"/>
          </a:xfrm>
          <a:prstGeom prst="rect">
            <a:avLst/>
          </a:prstGeom>
        </p:spPr>
        <p:txBody>
          <a:bodyPr lIns="0" tIns="0" rIns="0" bIns="0" rtlCol="0" anchor="t">
            <a:spAutoFit/>
          </a:bodyPr>
          <a:lstStyle/>
          <a:p>
            <a:pPr algn="l">
              <a:lnSpc>
                <a:spcPts val="2520"/>
              </a:lnSpc>
            </a:pPr>
            <a:r>
              <a:rPr lang="en-US" sz="2100">
                <a:solidFill>
                  <a:srgbClr val="F46F25"/>
                </a:solidFill>
                <a:latin typeface="Montserrat Ultra-Bold"/>
              </a:rPr>
              <a:t>PRODUCT</a:t>
            </a:r>
          </a:p>
        </p:txBody>
      </p:sp>
      <p:sp>
        <p:nvSpPr>
          <p:cNvPr id="11" name="TextBox 11"/>
          <p:cNvSpPr txBox="1"/>
          <p:nvPr/>
        </p:nvSpPr>
        <p:spPr>
          <a:xfrm>
            <a:off x="14952666" y="526065"/>
            <a:ext cx="3367145" cy="266700"/>
          </a:xfrm>
          <a:prstGeom prst="rect">
            <a:avLst/>
          </a:prstGeom>
        </p:spPr>
        <p:txBody>
          <a:bodyPr lIns="0" tIns="0" rIns="0" bIns="0" rtlCol="0" anchor="t">
            <a:spAutoFit/>
          </a:bodyPr>
          <a:lstStyle/>
          <a:p>
            <a:pPr algn="ctr">
              <a:lnSpc>
                <a:spcPts val="2160"/>
              </a:lnSpc>
            </a:pPr>
            <a:r>
              <a:rPr lang="en-US" sz="1800">
                <a:solidFill>
                  <a:srgbClr val="262626"/>
                </a:solidFill>
                <a:latin typeface="Montserrat Ultra-Bold"/>
              </a:rPr>
              <a:t>Product Brochure</a:t>
            </a:r>
          </a:p>
        </p:txBody>
      </p:sp>
      <p:sp>
        <p:nvSpPr>
          <p:cNvPr id="12" name="TextBox 12"/>
          <p:cNvSpPr txBox="1"/>
          <p:nvPr/>
        </p:nvSpPr>
        <p:spPr>
          <a:xfrm>
            <a:off x="15664555" y="9765439"/>
            <a:ext cx="2096191" cy="266700"/>
          </a:xfrm>
          <a:prstGeom prst="rect">
            <a:avLst/>
          </a:prstGeom>
        </p:spPr>
        <p:txBody>
          <a:bodyPr lIns="0" tIns="0" rIns="0" bIns="0" rtlCol="0" anchor="t">
            <a:spAutoFit/>
          </a:bodyPr>
          <a:lstStyle/>
          <a:p>
            <a:pPr algn="r">
              <a:lnSpc>
                <a:spcPts val="2160"/>
              </a:lnSpc>
            </a:pPr>
            <a:r>
              <a:rPr lang="en-US" sz="1800">
                <a:solidFill>
                  <a:srgbClr val="000000"/>
                </a:solidFill>
                <a:latin typeface="Montserrat Bold"/>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4C4BA">
                <a:alpha val="100000"/>
              </a:srgbClr>
            </a:gs>
          </a:gsLst>
          <a:lin ang="2700000"/>
        </a:gradFill>
        <a:effectLst/>
      </p:bgPr>
    </p:bg>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FF70B72-F422-7A8A-AC3D-11FED9005EA3}"/>
              </a:ext>
            </a:extLst>
          </p:cNvPr>
          <p:cNvGrpSpPr/>
          <p:nvPr/>
        </p:nvGrpSpPr>
        <p:grpSpPr>
          <a:xfrm>
            <a:off x="7029452" y="6219710"/>
            <a:ext cx="4229098" cy="2574197"/>
            <a:chOff x="0" y="0"/>
            <a:chExt cx="5638798" cy="4256766"/>
          </a:xfrm>
        </p:grpSpPr>
        <p:sp>
          <p:nvSpPr>
            <p:cNvPr id="3" name="Freeform 3">
              <a:extLst>
                <a:ext uri="{FF2B5EF4-FFF2-40B4-BE49-F238E27FC236}">
                  <a16:creationId xmlns:a16="http://schemas.microsoft.com/office/drawing/2014/main" id="{AE7840E8-D3B0-ABE3-B185-90E35C05C71E}"/>
                </a:ext>
              </a:extLst>
            </p:cNvPr>
            <p:cNvSpPr/>
            <p:nvPr/>
          </p:nvSpPr>
          <p:spPr>
            <a:xfrm>
              <a:off x="0" y="0"/>
              <a:ext cx="5638800" cy="4256786"/>
            </a:xfrm>
            <a:custGeom>
              <a:avLst/>
              <a:gdLst/>
              <a:ahLst/>
              <a:cxnLst/>
              <a:rect l="l" t="t" r="r" b="b"/>
              <a:pathLst>
                <a:path w="5638800" h="4256786">
                  <a:moveTo>
                    <a:pt x="0" y="0"/>
                  </a:moveTo>
                  <a:lnTo>
                    <a:pt x="5638800" y="0"/>
                  </a:lnTo>
                  <a:lnTo>
                    <a:pt x="5638800" y="4256786"/>
                  </a:lnTo>
                  <a:lnTo>
                    <a:pt x="0" y="4256786"/>
                  </a:lnTo>
                  <a:close/>
                </a:path>
              </a:pathLst>
            </a:custGeom>
            <a:solidFill>
              <a:srgbClr val="F46F25"/>
            </a:solidFill>
          </p:spPr>
        </p:sp>
      </p:grpSp>
      <p:grpSp>
        <p:nvGrpSpPr>
          <p:cNvPr id="4" name="Group 4">
            <a:extLst>
              <a:ext uri="{FF2B5EF4-FFF2-40B4-BE49-F238E27FC236}">
                <a16:creationId xmlns:a16="http://schemas.microsoft.com/office/drawing/2014/main" id="{5859B721-37C2-40A4-D6C0-40048032A9B2}"/>
              </a:ext>
            </a:extLst>
          </p:cNvPr>
          <p:cNvGrpSpPr/>
          <p:nvPr/>
        </p:nvGrpSpPr>
        <p:grpSpPr>
          <a:xfrm>
            <a:off x="576740" y="2133279"/>
            <a:ext cx="2385244" cy="2385244"/>
            <a:chOff x="0" y="0"/>
            <a:chExt cx="3180326" cy="3180326"/>
          </a:xfrm>
        </p:grpSpPr>
        <p:sp>
          <p:nvSpPr>
            <p:cNvPr id="5" name="Freeform 5">
              <a:extLst>
                <a:ext uri="{FF2B5EF4-FFF2-40B4-BE49-F238E27FC236}">
                  <a16:creationId xmlns:a16="http://schemas.microsoft.com/office/drawing/2014/main" id="{7E6A23F2-5920-76D4-53C1-E60C0ACDF394}"/>
                </a:ext>
              </a:extLst>
            </p:cNvPr>
            <p:cNvSpPr/>
            <p:nvPr/>
          </p:nvSpPr>
          <p:spPr>
            <a:xfrm>
              <a:off x="0" y="0"/>
              <a:ext cx="3180334" cy="3180334"/>
            </a:xfrm>
            <a:custGeom>
              <a:avLst/>
              <a:gdLst/>
              <a:ahLst/>
              <a:cxnLst/>
              <a:rect l="l" t="t" r="r" b="b"/>
              <a:pathLst>
                <a:path w="3180334" h="3180334">
                  <a:moveTo>
                    <a:pt x="0" y="1590167"/>
                  </a:moveTo>
                  <a:cubicBezTo>
                    <a:pt x="0" y="711962"/>
                    <a:pt x="711962" y="0"/>
                    <a:pt x="1590167" y="0"/>
                  </a:cubicBezTo>
                  <a:cubicBezTo>
                    <a:pt x="2468372" y="0"/>
                    <a:pt x="3180334" y="711962"/>
                    <a:pt x="3180334" y="1590167"/>
                  </a:cubicBezTo>
                  <a:cubicBezTo>
                    <a:pt x="3180334" y="2468372"/>
                    <a:pt x="2468372" y="3180334"/>
                    <a:pt x="1590167" y="3180334"/>
                  </a:cubicBezTo>
                  <a:cubicBezTo>
                    <a:pt x="711962" y="3180334"/>
                    <a:pt x="0" y="2468372"/>
                    <a:pt x="0" y="1590167"/>
                  </a:cubicBezTo>
                  <a:close/>
                </a:path>
              </a:pathLst>
            </a:custGeom>
            <a:solidFill>
              <a:srgbClr val="F46F25">
                <a:alpha val="40000"/>
              </a:srgbClr>
            </a:solidFill>
          </p:spPr>
        </p:sp>
      </p:grpSp>
      <p:grpSp>
        <p:nvGrpSpPr>
          <p:cNvPr id="6" name="Group 6">
            <a:extLst>
              <a:ext uri="{FF2B5EF4-FFF2-40B4-BE49-F238E27FC236}">
                <a16:creationId xmlns:a16="http://schemas.microsoft.com/office/drawing/2014/main" id="{17461018-F9DF-AF31-3333-AA80417D4377}"/>
              </a:ext>
            </a:extLst>
          </p:cNvPr>
          <p:cNvGrpSpPr/>
          <p:nvPr/>
        </p:nvGrpSpPr>
        <p:grpSpPr>
          <a:xfrm>
            <a:off x="1799941" y="6219713"/>
            <a:ext cx="4198521" cy="2574196"/>
            <a:chOff x="0" y="0"/>
            <a:chExt cx="5638798" cy="7343774"/>
          </a:xfrm>
        </p:grpSpPr>
        <p:sp>
          <p:nvSpPr>
            <p:cNvPr id="7" name="Freeform 7">
              <a:extLst>
                <a:ext uri="{FF2B5EF4-FFF2-40B4-BE49-F238E27FC236}">
                  <a16:creationId xmlns:a16="http://schemas.microsoft.com/office/drawing/2014/main" id="{D7B9C3E2-AF28-EE7A-DFD3-F6A8835BF4B6}"/>
                </a:ext>
              </a:extLst>
            </p:cNvPr>
            <p:cNvSpPr/>
            <p:nvPr/>
          </p:nvSpPr>
          <p:spPr>
            <a:xfrm>
              <a:off x="0" y="0"/>
              <a:ext cx="5638800" cy="7343775"/>
            </a:xfrm>
            <a:custGeom>
              <a:avLst/>
              <a:gdLst/>
              <a:ahLst/>
              <a:cxnLst/>
              <a:rect l="l" t="t" r="r" b="b"/>
              <a:pathLst>
                <a:path w="5638800" h="7343775">
                  <a:moveTo>
                    <a:pt x="0" y="0"/>
                  </a:moveTo>
                  <a:lnTo>
                    <a:pt x="5638800" y="0"/>
                  </a:lnTo>
                  <a:lnTo>
                    <a:pt x="5638800" y="7343775"/>
                  </a:lnTo>
                  <a:lnTo>
                    <a:pt x="0" y="7343775"/>
                  </a:lnTo>
                  <a:close/>
                </a:path>
              </a:pathLst>
            </a:custGeom>
            <a:solidFill>
              <a:srgbClr val="262626"/>
            </a:solidFill>
          </p:spPr>
        </p:sp>
      </p:grpSp>
      <p:grpSp>
        <p:nvGrpSpPr>
          <p:cNvPr id="8" name="Group 8">
            <a:extLst>
              <a:ext uri="{FF2B5EF4-FFF2-40B4-BE49-F238E27FC236}">
                <a16:creationId xmlns:a16="http://schemas.microsoft.com/office/drawing/2014/main" id="{CA7C600B-5032-5F1F-AD53-C93F4E1C97A4}"/>
              </a:ext>
            </a:extLst>
          </p:cNvPr>
          <p:cNvGrpSpPr/>
          <p:nvPr/>
        </p:nvGrpSpPr>
        <p:grpSpPr>
          <a:xfrm>
            <a:off x="12289539" y="6219698"/>
            <a:ext cx="4229098" cy="2574210"/>
            <a:chOff x="0" y="0"/>
            <a:chExt cx="5638798" cy="7343774"/>
          </a:xfrm>
        </p:grpSpPr>
        <p:sp>
          <p:nvSpPr>
            <p:cNvPr id="9" name="Freeform 9">
              <a:extLst>
                <a:ext uri="{FF2B5EF4-FFF2-40B4-BE49-F238E27FC236}">
                  <a16:creationId xmlns:a16="http://schemas.microsoft.com/office/drawing/2014/main" id="{84BEA770-2224-FDB3-0425-3D7BF447C477}"/>
                </a:ext>
              </a:extLst>
            </p:cNvPr>
            <p:cNvSpPr/>
            <p:nvPr/>
          </p:nvSpPr>
          <p:spPr>
            <a:xfrm>
              <a:off x="0" y="0"/>
              <a:ext cx="5638800" cy="7343775"/>
            </a:xfrm>
            <a:custGeom>
              <a:avLst/>
              <a:gdLst/>
              <a:ahLst/>
              <a:cxnLst/>
              <a:rect l="l" t="t" r="r" b="b"/>
              <a:pathLst>
                <a:path w="5638800" h="7343775">
                  <a:moveTo>
                    <a:pt x="0" y="0"/>
                  </a:moveTo>
                  <a:lnTo>
                    <a:pt x="5638800" y="0"/>
                  </a:lnTo>
                  <a:lnTo>
                    <a:pt x="5638800" y="7343775"/>
                  </a:lnTo>
                  <a:lnTo>
                    <a:pt x="0" y="7343775"/>
                  </a:lnTo>
                  <a:close/>
                </a:path>
              </a:pathLst>
            </a:custGeom>
            <a:solidFill>
              <a:srgbClr val="262626"/>
            </a:solidFill>
          </p:spPr>
        </p:sp>
      </p:grpSp>
      <p:sp>
        <p:nvSpPr>
          <p:cNvPr id="10" name="Freeform 10">
            <a:extLst>
              <a:ext uri="{FF2B5EF4-FFF2-40B4-BE49-F238E27FC236}">
                <a16:creationId xmlns:a16="http://schemas.microsoft.com/office/drawing/2014/main" id="{089F692E-55F4-A7C6-7263-477696D9C7B4}"/>
              </a:ext>
            </a:extLst>
          </p:cNvPr>
          <p:cNvSpPr/>
          <p:nvPr/>
        </p:nvSpPr>
        <p:spPr>
          <a:xfrm>
            <a:off x="-2" y="9434378"/>
            <a:ext cx="18288002" cy="852621"/>
          </a:xfrm>
          <a:custGeom>
            <a:avLst/>
            <a:gdLst/>
            <a:ahLst/>
            <a:cxnLst/>
            <a:rect l="l" t="t" r="r" b="b"/>
            <a:pathLst>
              <a:path w="18288002" h="852621">
                <a:moveTo>
                  <a:pt x="0" y="0"/>
                </a:moveTo>
                <a:lnTo>
                  <a:pt x="18288001" y="0"/>
                </a:lnTo>
                <a:lnTo>
                  <a:pt x="18288001" y="852621"/>
                </a:lnTo>
                <a:lnTo>
                  <a:pt x="0" y="8526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a:extLst>
              <a:ext uri="{FF2B5EF4-FFF2-40B4-BE49-F238E27FC236}">
                <a16:creationId xmlns:a16="http://schemas.microsoft.com/office/drawing/2014/main" id="{42BEAF65-CFF5-2E24-6E7C-B40682DAA8C3}"/>
              </a:ext>
            </a:extLst>
          </p:cNvPr>
          <p:cNvSpPr/>
          <p:nvPr/>
        </p:nvSpPr>
        <p:spPr>
          <a:xfrm>
            <a:off x="801650" y="8793909"/>
            <a:ext cx="454099" cy="451842"/>
          </a:xfrm>
          <a:custGeom>
            <a:avLst/>
            <a:gdLst/>
            <a:ahLst/>
            <a:cxnLst/>
            <a:rect l="l" t="t" r="r" b="b"/>
            <a:pathLst>
              <a:path w="454099" h="451842">
                <a:moveTo>
                  <a:pt x="0" y="0"/>
                </a:moveTo>
                <a:lnTo>
                  <a:pt x="454100" y="0"/>
                </a:lnTo>
                <a:lnTo>
                  <a:pt x="454100" y="451842"/>
                </a:lnTo>
                <a:lnTo>
                  <a:pt x="0" y="45184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a:extLst>
              <a:ext uri="{FF2B5EF4-FFF2-40B4-BE49-F238E27FC236}">
                <a16:creationId xmlns:a16="http://schemas.microsoft.com/office/drawing/2014/main" id="{7E7518BF-A70B-BEF2-81A6-4DEC0EAD7967}"/>
              </a:ext>
            </a:extLst>
          </p:cNvPr>
          <p:cNvSpPr/>
          <p:nvPr/>
        </p:nvSpPr>
        <p:spPr>
          <a:xfrm>
            <a:off x="17223298" y="2729956"/>
            <a:ext cx="259840" cy="1112244"/>
          </a:xfrm>
          <a:custGeom>
            <a:avLst/>
            <a:gdLst/>
            <a:ahLst/>
            <a:cxnLst/>
            <a:rect l="l" t="t" r="r" b="b"/>
            <a:pathLst>
              <a:path w="259840" h="1112244">
                <a:moveTo>
                  <a:pt x="0" y="0"/>
                </a:moveTo>
                <a:lnTo>
                  <a:pt x="259840" y="0"/>
                </a:lnTo>
                <a:lnTo>
                  <a:pt x="259840" y="1112244"/>
                </a:lnTo>
                <a:lnTo>
                  <a:pt x="0" y="111224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3" name="Group 13">
            <a:extLst>
              <a:ext uri="{FF2B5EF4-FFF2-40B4-BE49-F238E27FC236}">
                <a16:creationId xmlns:a16="http://schemas.microsoft.com/office/drawing/2014/main" id="{E3210CF8-16C0-7598-E689-F788C2C311D0}"/>
              </a:ext>
            </a:extLst>
          </p:cNvPr>
          <p:cNvGrpSpPr/>
          <p:nvPr/>
        </p:nvGrpSpPr>
        <p:grpSpPr>
          <a:xfrm>
            <a:off x="4942712" y="6332664"/>
            <a:ext cx="827313" cy="827313"/>
            <a:chOff x="0" y="0"/>
            <a:chExt cx="1103084" cy="1103084"/>
          </a:xfrm>
        </p:grpSpPr>
        <p:sp>
          <p:nvSpPr>
            <p:cNvPr id="14" name="Freeform 14">
              <a:extLst>
                <a:ext uri="{FF2B5EF4-FFF2-40B4-BE49-F238E27FC236}">
                  <a16:creationId xmlns:a16="http://schemas.microsoft.com/office/drawing/2014/main" id="{F917EAA6-14EB-309E-11D3-B93A302A07D9}"/>
                </a:ext>
              </a:extLst>
            </p:cNvPr>
            <p:cNvSpPr/>
            <p:nvPr/>
          </p:nvSpPr>
          <p:spPr>
            <a:xfrm>
              <a:off x="0" y="0"/>
              <a:ext cx="1103122" cy="1103122"/>
            </a:xfrm>
            <a:custGeom>
              <a:avLst/>
              <a:gdLst/>
              <a:ahLst/>
              <a:cxnLst/>
              <a:rect l="l" t="t" r="r" b="b"/>
              <a:pathLst>
                <a:path w="1103122" h="1103122">
                  <a:moveTo>
                    <a:pt x="0" y="551561"/>
                  </a:moveTo>
                  <a:cubicBezTo>
                    <a:pt x="0" y="246888"/>
                    <a:pt x="246888" y="0"/>
                    <a:pt x="551561" y="0"/>
                  </a:cubicBezTo>
                  <a:cubicBezTo>
                    <a:pt x="856234" y="0"/>
                    <a:pt x="1103122" y="246888"/>
                    <a:pt x="1103122" y="551561"/>
                  </a:cubicBezTo>
                  <a:cubicBezTo>
                    <a:pt x="1103122" y="856234"/>
                    <a:pt x="856107" y="1103122"/>
                    <a:pt x="551561" y="1103122"/>
                  </a:cubicBezTo>
                  <a:cubicBezTo>
                    <a:pt x="247015" y="1103122"/>
                    <a:pt x="0" y="856107"/>
                    <a:pt x="0" y="551561"/>
                  </a:cubicBezTo>
                  <a:close/>
                </a:path>
              </a:pathLst>
            </a:custGeom>
            <a:solidFill>
              <a:srgbClr val="F46F25"/>
            </a:solidFill>
          </p:spPr>
        </p:sp>
      </p:grpSp>
      <p:grpSp>
        <p:nvGrpSpPr>
          <p:cNvPr id="15" name="Group 15">
            <a:extLst>
              <a:ext uri="{FF2B5EF4-FFF2-40B4-BE49-F238E27FC236}">
                <a16:creationId xmlns:a16="http://schemas.microsoft.com/office/drawing/2014/main" id="{97EE0D57-8518-A63B-C584-1515C3229009}"/>
              </a:ext>
            </a:extLst>
          </p:cNvPr>
          <p:cNvGrpSpPr/>
          <p:nvPr/>
        </p:nvGrpSpPr>
        <p:grpSpPr>
          <a:xfrm>
            <a:off x="10080176" y="6334061"/>
            <a:ext cx="827313" cy="827313"/>
            <a:chOff x="0" y="0"/>
            <a:chExt cx="1103084" cy="1103084"/>
          </a:xfrm>
        </p:grpSpPr>
        <p:sp>
          <p:nvSpPr>
            <p:cNvPr id="16" name="Freeform 16">
              <a:extLst>
                <a:ext uri="{FF2B5EF4-FFF2-40B4-BE49-F238E27FC236}">
                  <a16:creationId xmlns:a16="http://schemas.microsoft.com/office/drawing/2014/main" id="{DE0C40B9-2CC7-B430-24A3-B6526B85641B}"/>
                </a:ext>
              </a:extLst>
            </p:cNvPr>
            <p:cNvSpPr/>
            <p:nvPr/>
          </p:nvSpPr>
          <p:spPr>
            <a:xfrm>
              <a:off x="0" y="0"/>
              <a:ext cx="1103122" cy="1103122"/>
            </a:xfrm>
            <a:custGeom>
              <a:avLst/>
              <a:gdLst/>
              <a:ahLst/>
              <a:cxnLst/>
              <a:rect l="l" t="t" r="r" b="b"/>
              <a:pathLst>
                <a:path w="1103122" h="1103122">
                  <a:moveTo>
                    <a:pt x="0" y="551561"/>
                  </a:moveTo>
                  <a:cubicBezTo>
                    <a:pt x="0" y="246888"/>
                    <a:pt x="246888" y="0"/>
                    <a:pt x="551561" y="0"/>
                  </a:cubicBezTo>
                  <a:cubicBezTo>
                    <a:pt x="856234" y="0"/>
                    <a:pt x="1103122" y="246888"/>
                    <a:pt x="1103122" y="551561"/>
                  </a:cubicBezTo>
                  <a:cubicBezTo>
                    <a:pt x="1103122" y="856234"/>
                    <a:pt x="856107" y="1103122"/>
                    <a:pt x="551561" y="1103122"/>
                  </a:cubicBezTo>
                  <a:cubicBezTo>
                    <a:pt x="247015" y="1103122"/>
                    <a:pt x="0" y="856107"/>
                    <a:pt x="0" y="551561"/>
                  </a:cubicBezTo>
                  <a:close/>
                </a:path>
              </a:pathLst>
            </a:custGeom>
            <a:solidFill>
              <a:srgbClr val="262626"/>
            </a:solidFill>
          </p:spPr>
        </p:sp>
      </p:grpSp>
      <p:sp>
        <p:nvSpPr>
          <p:cNvPr id="19" name="Freeform 19">
            <a:extLst>
              <a:ext uri="{FF2B5EF4-FFF2-40B4-BE49-F238E27FC236}">
                <a16:creationId xmlns:a16="http://schemas.microsoft.com/office/drawing/2014/main" id="{1738C0AE-8D79-2164-B96C-3275CDE5879F}"/>
              </a:ext>
            </a:extLst>
          </p:cNvPr>
          <p:cNvSpPr/>
          <p:nvPr/>
        </p:nvSpPr>
        <p:spPr>
          <a:xfrm>
            <a:off x="7233" y="28199"/>
            <a:ext cx="2042934" cy="1519607"/>
          </a:xfrm>
          <a:custGeom>
            <a:avLst/>
            <a:gdLst/>
            <a:ahLst/>
            <a:cxnLst/>
            <a:rect l="l" t="t" r="r" b="b"/>
            <a:pathLst>
              <a:path w="2042934" h="1519607">
                <a:moveTo>
                  <a:pt x="0" y="0"/>
                </a:moveTo>
                <a:lnTo>
                  <a:pt x="2042934" y="0"/>
                </a:lnTo>
                <a:lnTo>
                  <a:pt x="2042934" y="1519607"/>
                </a:lnTo>
                <a:lnTo>
                  <a:pt x="0" y="1519607"/>
                </a:lnTo>
                <a:lnTo>
                  <a:pt x="0" y="0"/>
                </a:lnTo>
                <a:close/>
              </a:path>
            </a:pathLst>
          </a:custGeom>
          <a:blipFill>
            <a:blip r:embed="rId8"/>
            <a:stretch>
              <a:fillRect l="-21376" r="-29891"/>
            </a:stretch>
          </a:blipFill>
        </p:spPr>
      </p:sp>
      <p:sp>
        <p:nvSpPr>
          <p:cNvPr id="20" name="Freeform 20">
            <a:extLst>
              <a:ext uri="{FF2B5EF4-FFF2-40B4-BE49-F238E27FC236}">
                <a16:creationId xmlns:a16="http://schemas.microsoft.com/office/drawing/2014/main" id="{24B72EF1-AB8E-8B58-C3BE-EA851E037CD1}"/>
              </a:ext>
            </a:extLst>
          </p:cNvPr>
          <p:cNvSpPr/>
          <p:nvPr/>
        </p:nvSpPr>
        <p:spPr>
          <a:xfrm>
            <a:off x="2441476" y="3235945"/>
            <a:ext cx="2884872" cy="2898155"/>
          </a:xfrm>
          <a:custGeom>
            <a:avLst/>
            <a:gdLst/>
            <a:ahLst/>
            <a:cxnLst/>
            <a:rect l="l" t="t" r="r" b="b"/>
            <a:pathLst>
              <a:path w="2884872" h="2898155">
                <a:moveTo>
                  <a:pt x="0" y="0"/>
                </a:moveTo>
                <a:lnTo>
                  <a:pt x="2884871" y="0"/>
                </a:lnTo>
                <a:lnTo>
                  <a:pt x="2884871" y="2898155"/>
                </a:lnTo>
                <a:lnTo>
                  <a:pt x="0" y="289815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1" name="Freeform 21">
            <a:extLst>
              <a:ext uri="{FF2B5EF4-FFF2-40B4-BE49-F238E27FC236}">
                <a16:creationId xmlns:a16="http://schemas.microsoft.com/office/drawing/2014/main" id="{8E55EB68-09A5-2A93-F3B6-C19F5110115A}"/>
              </a:ext>
            </a:extLst>
          </p:cNvPr>
          <p:cNvSpPr/>
          <p:nvPr/>
        </p:nvSpPr>
        <p:spPr>
          <a:xfrm>
            <a:off x="7169788" y="3272427"/>
            <a:ext cx="3931159" cy="2898155"/>
          </a:xfrm>
          <a:custGeom>
            <a:avLst/>
            <a:gdLst/>
            <a:ahLst/>
            <a:cxnLst/>
            <a:rect l="l" t="t" r="r" b="b"/>
            <a:pathLst>
              <a:path w="3369665" h="2413523">
                <a:moveTo>
                  <a:pt x="0" y="0"/>
                </a:moveTo>
                <a:lnTo>
                  <a:pt x="3369665" y="0"/>
                </a:lnTo>
                <a:lnTo>
                  <a:pt x="3369665" y="2413522"/>
                </a:lnTo>
                <a:lnTo>
                  <a:pt x="0" y="241352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2" name="Freeform 22">
            <a:extLst>
              <a:ext uri="{FF2B5EF4-FFF2-40B4-BE49-F238E27FC236}">
                <a16:creationId xmlns:a16="http://schemas.microsoft.com/office/drawing/2014/main" id="{DD3F5466-DE99-A4A1-4B7F-ABB293A6FB2F}"/>
              </a:ext>
            </a:extLst>
          </p:cNvPr>
          <p:cNvSpPr/>
          <p:nvPr/>
        </p:nvSpPr>
        <p:spPr>
          <a:xfrm>
            <a:off x="12618140" y="3266104"/>
            <a:ext cx="3603843" cy="2845895"/>
          </a:xfrm>
          <a:custGeom>
            <a:avLst/>
            <a:gdLst/>
            <a:ahLst/>
            <a:cxnLst/>
            <a:rect l="l" t="t" r="r" b="b"/>
            <a:pathLst>
              <a:path w="3013955" h="2329536">
                <a:moveTo>
                  <a:pt x="0" y="0"/>
                </a:moveTo>
                <a:lnTo>
                  <a:pt x="3013955" y="0"/>
                </a:lnTo>
                <a:lnTo>
                  <a:pt x="3013955" y="2329537"/>
                </a:lnTo>
                <a:lnTo>
                  <a:pt x="0" y="2329537"/>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3" name="TextBox 23">
            <a:extLst>
              <a:ext uri="{FF2B5EF4-FFF2-40B4-BE49-F238E27FC236}">
                <a16:creationId xmlns:a16="http://schemas.microsoft.com/office/drawing/2014/main" id="{6C007DA7-B902-CFF0-75F1-11491BF919BF}"/>
              </a:ext>
            </a:extLst>
          </p:cNvPr>
          <p:cNvSpPr txBox="1"/>
          <p:nvPr/>
        </p:nvSpPr>
        <p:spPr>
          <a:xfrm>
            <a:off x="2340252" y="6641918"/>
            <a:ext cx="3087321"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宋体-超粗体"/>
              </a:rPr>
              <a:t>Efficiency</a:t>
            </a:r>
          </a:p>
        </p:txBody>
      </p:sp>
      <p:sp>
        <p:nvSpPr>
          <p:cNvPr id="24" name="TextBox 24">
            <a:extLst>
              <a:ext uri="{FF2B5EF4-FFF2-40B4-BE49-F238E27FC236}">
                <a16:creationId xmlns:a16="http://schemas.microsoft.com/office/drawing/2014/main" id="{91959B31-869A-6DCF-CE17-BE38B128DEAC}"/>
              </a:ext>
            </a:extLst>
          </p:cNvPr>
          <p:cNvSpPr txBox="1"/>
          <p:nvPr/>
        </p:nvSpPr>
        <p:spPr>
          <a:xfrm>
            <a:off x="2195209" y="7281568"/>
            <a:ext cx="3377406" cy="1066800"/>
          </a:xfrm>
          <a:prstGeom prst="rect">
            <a:avLst/>
          </a:prstGeom>
        </p:spPr>
        <p:txBody>
          <a:bodyPr lIns="0" tIns="0" rIns="0" bIns="0" rtlCol="0" anchor="t">
            <a:spAutoFit/>
          </a:bodyPr>
          <a:lstStyle/>
          <a:p>
            <a:pPr algn="ctr">
              <a:lnSpc>
                <a:spcPts val="2160"/>
              </a:lnSpc>
            </a:pPr>
            <a:r>
              <a:rPr lang="en-US" sz="1800">
                <a:solidFill>
                  <a:srgbClr val="FFFFFF"/>
                </a:solidFill>
                <a:latin typeface="思源黑体"/>
              </a:rPr>
              <a:t>Our company is dedicated to producing high-quality mechanical equipment in the most efficient manner possible.</a:t>
            </a:r>
          </a:p>
        </p:txBody>
      </p:sp>
      <p:sp>
        <p:nvSpPr>
          <p:cNvPr id="25" name="TextBox 25">
            <a:extLst>
              <a:ext uri="{FF2B5EF4-FFF2-40B4-BE49-F238E27FC236}">
                <a16:creationId xmlns:a16="http://schemas.microsoft.com/office/drawing/2014/main" id="{89DF678D-2D4E-B2C4-AF84-A312A7E43B90}"/>
              </a:ext>
            </a:extLst>
          </p:cNvPr>
          <p:cNvSpPr txBox="1"/>
          <p:nvPr/>
        </p:nvSpPr>
        <p:spPr>
          <a:xfrm>
            <a:off x="7591708" y="6641918"/>
            <a:ext cx="3087321"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宋体-超粗体"/>
              </a:rPr>
              <a:t>Quality</a:t>
            </a:r>
          </a:p>
        </p:txBody>
      </p:sp>
      <p:sp>
        <p:nvSpPr>
          <p:cNvPr id="26" name="TextBox 26">
            <a:extLst>
              <a:ext uri="{FF2B5EF4-FFF2-40B4-BE49-F238E27FC236}">
                <a16:creationId xmlns:a16="http://schemas.microsoft.com/office/drawing/2014/main" id="{A3597C9E-CA44-B0F1-7ADD-1F1F782A73F0}"/>
              </a:ext>
            </a:extLst>
          </p:cNvPr>
          <p:cNvSpPr txBox="1"/>
          <p:nvPr/>
        </p:nvSpPr>
        <p:spPr>
          <a:xfrm>
            <a:off x="7415122" y="7281568"/>
            <a:ext cx="3457758" cy="1066800"/>
          </a:xfrm>
          <a:prstGeom prst="rect">
            <a:avLst/>
          </a:prstGeom>
        </p:spPr>
        <p:txBody>
          <a:bodyPr lIns="0" tIns="0" rIns="0" bIns="0" rtlCol="0" anchor="t">
            <a:spAutoFit/>
          </a:bodyPr>
          <a:lstStyle/>
          <a:p>
            <a:pPr algn="ctr">
              <a:lnSpc>
                <a:spcPts val="2160"/>
              </a:lnSpc>
            </a:pPr>
            <a:r>
              <a:rPr lang="en-US" sz="1800">
                <a:solidFill>
                  <a:srgbClr val="FFFFFF"/>
                </a:solidFill>
                <a:latin typeface="思源黑体"/>
              </a:rPr>
              <a:t>We are committed to stringent quality control practices at every stage of the manufacturing process.</a:t>
            </a:r>
          </a:p>
        </p:txBody>
      </p:sp>
      <p:sp>
        <p:nvSpPr>
          <p:cNvPr id="27" name="TextBox 27">
            <a:extLst>
              <a:ext uri="{FF2B5EF4-FFF2-40B4-BE49-F238E27FC236}">
                <a16:creationId xmlns:a16="http://schemas.microsoft.com/office/drawing/2014/main" id="{7E8599ED-428D-E812-1D88-559BC0021C04}"/>
              </a:ext>
            </a:extLst>
          </p:cNvPr>
          <p:cNvSpPr txBox="1"/>
          <p:nvPr/>
        </p:nvSpPr>
        <p:spPr>
          <a:xfrm>
            <a:off x="12860428" y="6641918"/>
            <a:ext cx="3087321" cy="409575"/>
          </a:xfrm>
          <a:prstGeom prst="rect">
            <a:avLst/>
          </a:prstGeom>
        </p:spPr>
        <p:txBody>
          <a:bodyPr lIns="0" tIns="0" rIns="0" bIns="0" rtlCol="0" anchor="t">
            <a:spAutoFit/>
          </a:bodyPr>
          <a:lstStyle/>
          <a:p>
            <a:pPr algn="ctr">
              <a:lnSpc>
                <a:spcPts val="3240"/>
              </a:lnSpc>
            </a:pPr>
            <a:r>
              <a:rPr lang="en-US" sz="2700">
                <a:solidFill>
                  <a:srgbClr val="FFFFFF"/>
                </a:solidFill>
                <a:latin typeface="思源宋体-超粗体"/>
              </a:rPr>
              <a:t>Innovation</a:t>
            </a:r>
          </a:p>
        </p:txBody>
      </p:sp>
      <p:sp>
        <p:nvSpPr>
          <p:cNvPr id="28" name="TextBox 28">
            <a:extLst>
              <a:ext uri="{FF2B5EF4-FFF2-40B4-BE49-F238E27FC236}">
                <a16:creationId xmlns:a16="http://schemas.microsoft.com/office/drawing/2014/main" id="{356E6720-88AC-EC83-23EA-6B3214D62275}"/>
              </a:ext>
            </a:extLst>
          </p:cNvPr>
          <p:cNvSpPr txBox="1"/>
          <p:nvPr/>
        </p:nvSpPr>
        <p:spPr>
          <a:xfrm>
            <a:off x="12677775" y="7281568"/>
            <a:ext cx="3641943" cy="1333500"/>
          </a:xfrm>
          <a:prstGeom prst="rect">
            <a:avLst/>
          </a:prstGeom>
        </p:spPr>
        <p:txBody>
          <a:bodyPr lIns="0" tIns="0" rIns="0" bIns="0" rtlCol="0" anchor="t">
            <a:spAutoFit/>
          </a:bodyPr>
          <a:lstStyle/>
          <a:p>
            <a:pPr algn="ctr">
              <a:lnSpc>
                <a:spcPts val="2160"/>
              </a:lnSpc>
            </a:pPr>
            <a:r>
              <a:rPr lang="en-US" sz="1800">
                <a:solidFill>
                  <a:srgbClr val="FFFFFF"/>
                </a:solidFill>
                <a:latin typeface="思源黑体"/>
              </a:rPr>
              <a:t>Our dedication to innovation enables us to provide our customers with forward-thinking, customized equipment that adds value to their operations.</a:t>
            </a:r>
          </a:p>
        </p:txBody>
      </p:sp>
      <p:sp>
        <p:nvSpPr>
          <p:cNvPr id="29" name="TextBox 29">
            <a:extLst>
              <a:ext uri="{FF2B5EF4-FFF2-40B4-BE49-F238E27FC236}">
                <a16:creationId xmlns:a16="http://schemas.microsoft.com/office/drawing/2014/main" id="{92A25673-1697-D1D6-A851-8C429F47E553}"/>
              </a:ext>
            </a:extLst>
          </p:cNvPr>
          <p:cNvSpPr txBox="1"/>
          <p:nvPr/>
        </p:nvSpPr>
        <p:spPr>
          <a:xfrm>
            <a:off x="4536282" y="1109511"/>
            <a:ext cx="9002205" cy="723900"/>
          </a:xfrm>
          <a:prstGeom prst="rect">
            <a:avLst/>
          </a:prstGeom>
        </p:spPr>
        <p:txBody>
          <a:bodyPr lIns="0" tIns="0" rIns="0" bIns="0" rtlCol="0" anchor="t">
            <a:spAutoFit/>
          </a:bodyPr>
          <a:lstStyle/>
          <a:p>
            <a:pPr algn="ctr">
              <a:lnSpc>
                <a:spcPts val="5759"/>
              </a:lnSpc>
            </a:pPr>
            <a:r>
              <a:rPr lang="en-US" sz="4800">
                <a:solidFill>
                  <a:srgbClr val="2C2E38"/>
                </a:solidFill>
                <a:latin typeface="思源宋体-超粗体"/>
              </a:rPr>
              <a:t>Company Mission</a:t>
            </a:r>
          </a:p>
        </p:txBody>
      </p:sp>
      <p:sp>
        <p:nvSpPr>
          <p:cNvPr id="30" name="TextBox 30">
            <a:extLst>
              <a:ext uri="{FF2B5EF4-FFF2-40B4-BE49-F238E27FC236}">
                <a16:creationId xmlns:a16="http://schemas.microsoft.com/office/drawing/2014/main" id="{B1A006CD-8C8A-DD07-5109-311078F3614C}"/>
              </a:ext>
            </a:extLst>
          </p:cNvPr>
          <p:cNvSpPr txBox="1"/>
          <p:nvPr/>
        </p:nvSpPr>
        <p:spPr>
          <a:xfrm>
            <a:off x="5998462" y="1928492"/>
            <a:ext cx="6143496" cy="409575"/>
          </a:xfrm>
          <a:prstGeom prst="rect">
            <a:avLst/>
          </a:prstGeom>
        </p:spPr>
        <p:txBody>
          <a:bodyPr lIns="0" tIns="0" rIns="0" bIns="0" rtlCol="0" anchor="t">
            <a:spAutoFit/>
          </a:bodyPr>
          <a:lstStyle/>
          <a:p>
            <a:pPr algn="ctr">
              <a:lnSpc>
                <a:spcPts val="3240"/>
              </a:lnSpc>
            </a:pPr>
            <a:r>
              <a:rPr lang="en-US" sz="2700">
                <a:solidFill>
                  <a:srgbClr val="F46F25"/>
                </a:solidFill>
                <a:latin typeface="Montserrat"/>
              </a:rPr>
              <a:t>Technology, Services, Cooperate</a:t>
            </a:r>
          </a:p>
        </p:txBody>
      </p:sp>
      <p:sp>
        <p:nvSpPr>
          <p:cNvPr id="31" name="TextBox 31">
            <a:extLst>
              <a:ext uri="{FF2B5EF4-FFF2-40B4-BE49-F238E27FC236}">
                <a16:creationId xmlns:a16="http://schemas.microsoft.com/office/drawing/2014/main" id="{B3971803-C4B3-CC17-0D2B-5F8FD5356E0F}"/>
              </a:ext>
            </a:extLst>
          </p:cNvPr>
          <p:cNvSpPr txBox="1"/>
          <p:nvPr/>
        </p:nvSpPr>
        <p:spPr>
          <a:xfrm>
            <a:off x="3812722" y="6551596"/>
            <a:ext cx="3087321" cy="409443"/>
          </a:xfrm>
          <a:prstGeom prst="rect">
            <a:avLst/>
          </a:prstGeom>
        </p:spPr>
        <p:txBody>
          <a:bodyPr lIns="0" tIns="0" rIns="0" bIns="0" rtlCol="0" anchor="t">
            <a:spAutoFit/>
          </a:bodyPr>
          <a:lstStyle/>
          <a:p>
            <a:pPr algn="ctr">
              <a:lnSpc>
                <a:spcPts val="3240"/>
              </a:lnSpc>
            </a:pPr>
            <a:r>
              <a:rPr lang="en-US" sz="2700" dirty="0">
                <a:solidFill>
                  <a:srgbClr val="FFFFFF"/>
                </a:solidFill>
                <a:latin typeface="思源宋体-超粗体"/>
              </a:rPr>
              <a:t>01</a:t>
            </a:r>
          </a:p>
        </p:txBody>
      </p:sp>
      <p:sp>
        <p:nvSpPr>
          <p:cNvPr id="32" name="TextBox 32">
            <a:extLst>
              <a:ext uri="{FF2B5EF4-FFF2-40B4-BE49-F238E27FC236}">
                <a16:creationId xmlns:a16="http://schemas.microsoft.com/office/drawing/2014/main" id="{9F95DE34-36A3-057E-C1C4-953B65F18765}"/>
              </a:ext>
            </a:extLst>
          </p:cNvPr>
          <p:cNvSpPr txBox="1"/>
          <p:nvPr/>
        </p:nvSpPr>
        <p:spPr>
          <a:xfrm>
            <a:off x="8915563" y="6546668"/>
            <a:ext cx="3087321" cy="409443"/>
          </a:xfrm>
          <a:prstGeom prst="rect">
            <a:avLst/>
          </a:prstGeom>
        </p:spPr>
        <p:txBody>
          <a:bodyPr lIns="0" tIns="0" rIns="0" bIns="0" rtlCol="0" anchor="t">
            <a:spAutoFit/>
          </a:bodyPr>
          <a:lstStyle/>
          <a:p>
            <a:pPr algn="ctr">
              <a:lnSpc>
                <a:spcPts val="3240"/>
              </a:lnSpc>
            </a:pPr>
            <a:r>
              <a:rPr lang="en-US" sz="2700" dirty="0">
                <a:solidFill>
                  <a:srgbClr val="FFFFFF"/>
                </a:solidFill>
                <a:latin typeface="思源宋体-超粗体"/>
              </a:rPr>
              <a:t>02</a:t>
            </a:r>
          </a:p>
        </p:txBody>
      </p:sp>
      <p:grpSp>
        <p:nvGrpSpPr>
          <p:cNvPr id="36" name="组合 35">
            <a:extLst>
              <a:ext uri="{FF2B5EF4-FFF2-40B4-BE49-F238E27FC236}">
                <a16:creationId xmlns:a16="http://schemas.microsoft.com/office/drawing/2014/main" id="{0689CB66-0110-EAF2-C6B4-6A129077B0B4}"/>
              </a:ext>
            </a:extLst>
          </p:cNvPr>
          <p:cNvGrpSpPr/>
          <p:nvPr/>
        </p:nvGrpSpPr>
        <p:grpSpPr>
          <a:xfrm>
            <a:off x="14420062" y="6339479"/>
            <a:ext cx="3087321" cy="827313"/>
            <a:chOff x="13979028" y="5601334"/>
            <a:chExt cx="3087321" cy="827313"/>
          </a:xfrm>
        </p:grpSpPr>
        <p:grpSp>
          <p:nvGrpSpPr>
            <p:cNvPr id="17" name="Group 17">
              <a:extLst>
                <a:ext uri="{FF2B5EF4-FFF2-40B4-BE49-F238E27FC236}">
                  <a16:creationId xmlns:a16="http://schemas.microsoft.com/office/drawing/2014/main" id="{60293F1B-4996-673B-C4E6-6BC33FA24A86}"/>
                </a:ext>
              </a:extLst>
            </p:cNvPr>
            <p:cNvGrpSpPr/>
            <p:nvPr/>
          </p:nvGrpSpPr>
          <p:grpSpPr>
            <a:xfrm>
              <a:off x="15109032" y="5601334"/>
              <a:ext cx="827313" cy="827313"/>
              <a:chOff x="0" y="0"/>
              <a:chExt cx="1103084" cy="1103084"/>
            </a:xfrm>
          </p:grpSpPr>
          <p:sp>
            <p:nvSpPr>
              <p:cNvPr id="18" name="Freeform 18">
                <a:extLst>
                  <a:ext uri="{FF2B5EF4-FFF2-40B4-BE49-F238E27FC236}">
                    <a16:creationId xmlns:a16="http://schemas.microsoft.com/office/drawing/2014/main" id="{3FC22C2F-4991-7436-5396-FDFAC4B74D89}"/>
                  </a:ext>
                </a:extLst>
              </p:cNvPr>
              <p:cNvSpPr/>
              <p:nvPr/>
            </p:nvSpPr>
            <p:spPr>
              <a:xfrm>
                <a:off x="0" y="0"/>
                <a:ext cx="1103122" cy="1103122"/>
              </a:xfrm>
              <a:custGeom>
                <a:avLst/>
                <a:gdLst/>
                <a:ahLst/>
                <a:cxnLst/>
                <a:rect l="l" t="t" r="r" b="b"/>
                <a:pathLst>
                  <a:path w="1103122" h="1103122">
                    <a:moveTo>
                      <a:pt x="0" y="551561"/>
                    </a:moveTo>
                    <a:cubicBezTo>
                      <a:pt x="0" y="246888"/>
                      <a:pt x="246888" y="0"/>
                      <a:pt x="551561" y="0"/>
                    </a:cubicBezTo>
                    <a:cubicBezTo>
                      <a:pt x="856234" y="0"/>
                      <a:pt x="1103122" y="246888"/>
                      <a:pt x="1103122" y="551561"/>
                    </a:cubicBezTo>
                    <a:cubicBezTo>
                      <a:pt x="1103122" y="856234"/>
                      <a:pt x="856107" y="1103122"/>
                      <a:pt x="551561" y="1103122"/>
                    </a:cubicBezTo>
                    <a:cubicBezTo>
                      <a:pt x="247015" y="1103122"/>
                      <a:pt x="0" y="856107"/>
                      <a:pt x="0" y="551561"/>
                    </a:cubicBezTo>
                    <a:close/>
                  </a:path>
                </a:pathLst>
              </a:custGeom>
              <a:solidFill>
                <a:srgbClr val="F46F25"/>
              </a:solidFill>
            </p:spPr>
          </p:sp>
        </p:grpSp>
        <p:sp>
          <p:nvSpPr>
            <p:cNvPr id="33" name="TextBox 33">
              <a:extLst>
                <a:ext uri="{FF2B5EF4-FFF2-40B4-BE49-F238E27FC236}">
                  <a16:creationId xmlns:a16="http://schemas.microsoft.com/office/drawing/2014/main" id="{6DA50DA3-CD62-2BF1-5B0E-A699C0A59C38}"/>
                </a:ext>
              </a:extLst>
            </p:cNvPr>
            <p:cNvSpPr txBox="1"/>
            <p:nvPr/>
          </p:nvSpPr>
          <p:spPr>
            <a:xfrm>
              <a:off x="13979028" y="5810270"/>
              <a:ext cx="3087321" cy="409443"/>
            </a:xfrm>
            <a:prstGeom prst="rect">
              <a:avLst/>
            </a:prstGeom>
          </p:spPr>
          <p:txBody>
            <a:bodyPr lIns="0" tIns="0" rIns="0" bIns="0" rtlCol="0" anchor="t">
              <a:spAutoFit/>
            </a:bodyPr>
            <a:lstStyle/>
            <a:p>
              <a:pPr algn="ctr">
                <a:lnSpc>
                  <a:spcPts val="3240"/>
                </a:lnSpc>
              </a:pPr>
              <a:r>
                <a:rPr lang="en-US" sz="2700" dirty="0">
                  <a:solidFill>
                    <a:srgbClr val="FFFFFF"/>
                  </a:solidFill>
                  <a:latin typeface="思源宋体-超粗体"/>
                </a:rPr>
                <a:t>03</a:t>
              </a:r>
            </a:p>
          </p:txBody>
        </p:sp>
      </p:grpSp>
      <p:sp>
        <p:nvSpPr>
          <p:cNvPr id="34" name="TextBox 34">
            <a:extLst>
              <a:ext uri="{FF2B5EF4-FFF2-40B4-BE49-F238E27FC236}">
                <a16:creationId xmlns:a16="http://schemas.microsoft.com/office/drawing/2014/main" id="{87C33E17-145B-68C8-07FC-FC6B8A606A61}"/>
              </a:ext>
            </a:extLst>
          </p:cNvPr>
          <p:cNvSpPr txBox="1"/>
          <p:nvPr/>
        </p:nvSpPr>
        <p:spPr>
          <a:xfrm>
            <a:off x="15664555" y="9765439"/>
            <a:ext cx="2096191" cy="266700"/>
          </a:xfrm>
          <a:prstGeom prst="rect">
            <a:avLst/>
          </a:prstGeom>
        </p:spPr>
        <p:txBody>
          <a:bodyPr lIns="0" tIns="0" rIns="0" bIns="0" rtlCol="0" anchor="t">
            <a:spAutoFit/>
          </a:bodyPr>
          <a:lstStyle/>
          <a:p>
            <a:pPr algn="r">
              <a:lnSpc>
                <a:spcPts val="2160"/>
              </a:lnSpc>
            </a:pPr>
            <a:r>
              <a:rPr lang="en-US" sz="1800">
                <a:solidFill>
                  <a:srgbClr val="000000"/>
                </a:solidFill>
                <a:latin typeface="Montserrat Bold"/>
              </a:rPr>
              <a:t>3</a:t>
            </a:r>
          </a:p>
        </p:txBody>
      </p:sp>
      <p:sp>
        <p:nvSpPr>
          <p:cNvPr id="35" name="TextBox 35">
            <a:extLst>
              <a:ext uri="{FF2B5EF4-FFF2-40B4-BE49-F238E27FC236}">
                <a16:creationId xmlns:a16="http://schemas.microsoft.com/office/drawing/2014/main" id="{D2E6F2A8-C883-0DF1-BE81-F27381F775DA}"/>
              </a:ext>
            </a:extLst>
          </p:cNvPr>
          <p:cNvSpPr txBox="1"/>
          <p:nvPr/>
        </p:nvSpPr>
        <p:spPr>
          <a:xfrm>
            <a:off x="14952666" y="526065"/>
            <a:ext cx="3367145" cy="266700"/>
          </a:xfrm>
          <a:prstGeom prst="rect">
            <a:avLst/>
          </a:prstGeom>
        </p:spPr>
        <p:txBody>
          <a:bodyPr lIns="0" tIns="0" rIns="0" bIns="0" rtlCol="0" anchor="t">
            <a:spAutoFit/>
          </a:bodyPr>
          <a:lstStyle/>
          <a:p>
            <a:pPr algn="ctr">
              <a:lnSpc>
                <a:spcPts val="2160"/>
              </a:lnSpc>
            </a:pPr>
            <a:r>
              <a:rPr lang="en-US" sz="1800">
                <a:solidFill>
                  <a:srgbClr val="262626"/>
                </a:solidFill>
                <a:latin typeface="Montserrat Ultra-Bold"/>
              </a:rPr>
              <a:t>Product Brochure</a:t>
            </a:r>
          </a:p>
        </p:txBody>
      </p:sp>
    </p:spTree>
    <p:extLst>
      <p:ext uri="{BB962C8B-B14F-4D97-AF65-F5344CB8AC3E}">
        <p14:creationId xmlns:p14="http://schemas.microsoft.com/office/powerpoint/2010/main" val="1007160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4C4BA">
                <a:alpha val="100000"/>
              </a:srgbClr>
            </a:gs>
          </a:gsLst>
          <a:lin ang="2700000"/>
        </a:gra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867238C1-F794-B12B-7281-A79C9E079E53}"/>
              </a:ext>
            </a:extLst>
          </p:cNvPr>
          <p:cNvSpPr/>
          <p:nvPr/>
        </p:nvSpPr>
        <p:spPr>
          <a:xfrm>
            <a:off x="5410200" y="4686300"/>
            <a:ext cx="4871009" cy="4572000"/>
          </a:xfrm>
          <a:prstGeom prst="rect">
            <a:avLst/>
          </a:prstGeom>
          <a:noFill/>
          <a:ln>
            <a:solidFill>
              <a:schemeClr val="accent6">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TextBox 2"/>
          <p:cNvSpPr txBox="1"/>
          <p:nvPr/>
        </p:nvSpPr>
        <p:spPr>
          <a:xfrm>
            <a:off x="6404058" y="426053"/>
            <a:ext cx="5479883" cy="704850"/>
          </a:xfrm>
          <a:prstGeom prst="rect">
            <a:avLst/>
          </a:prstGeom>
        </p:spPr>
        <p:txBody>
          <a:bodyPr lIns="0" tIns="0" rIns="0" bIns="0" rtlCol="0" anchor="t">
            <a:spAutoFit/>
          </a:bodyPr>
          <a:lstStyle/>
          <a:p>
            <a:pPr algn="l">
              <a:lnSpc>
                <a:spcPts val="5400"/>
              </a:lnSpc>
            </a:pPr>
            <a:r>
              <a:rPr lang="en-US" sz="4500">
                <a:solidFill>
                  <a:srgbClr val="2C2E38"/>
                </a:solidFill>
                <a:latin typeface="思源宋体-超粗体"/>
              </a:rPr>
              <a:t>Product catalog</a:t>
            </a:r>
          </a:p>
        </p:txBody>
      </p:sp>
      <p:sp>
        <p:nvSpPr>
          <p:cNvPr id="3" name="Freeform 3"/>
          <p:cNvSpPr/>
          <p:nvPr/>
        </p:nvSpPr>
        <p:spPr>
          <a:xfrm>
            <a:off x="17112799" y="1790440"/>
            <a:ext cx="259840" cy="1112244"/>
          </a:xfrm>
          <a:custGeom>
            <a:avLst/>
            <a:gdLst/>
            <a:ahLst/>
            <a:cxnLst/>
            <a:rect l="l" t="t" r="r" b="b"/>
            <a:pathLst>
              <a:path w="259840" h="1112244">
                <a:moveTo>
                  <a:pt x="0" y="0"/>
                </a:moveTo>
                <a:lnTo>
                  <a:pt x="259840" y="0"/>
                </a:lnTo>
                <a:lnTo>
                  <a:pt x="259840" y="1112244"/>
                </a:lnTo>
                <a:lnTo>
                  <a:pt x="0" y="11122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 y="9440023"/>
            <a:ext cx="18287999" cy="846977"/>
          </a:xfrm>
          <a:custGeom>
            <a:avLst/>
            <a:gdLst/>
            <a:ahLst/>
            <a:cxnLst/>
            <a:rect l="l" t="t" r="r" b="b"/>
            <a:pathLst>
              <a:path w="18240053" h="1184231">
                <a:moveTo>
                  <a:pt x="0" y="0"/>
                </a:moveTo>
                <a:lnTo>
                  <a:pt x="18240053" y="0"/>
                </a:lnTo>
                <a:lnTo>
                  <a:pt x="18240053" y="1184231"/>
                </a:lnTo>
                <a:lnTo>
                  <a:pt x="0" y="11842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311745" y="1552315"/>
            <a:ext cx="5549212" cy="466725"/>
          </a:xfrm>
          <a:prstGeom prst="rect">
            <a:avLst/>
          </a:prstGeom>
        </p:spPr>
        <p:txBody>
          <a:bodyPr lIns="0" tIns="0" rIns="0" bIns="0" rtlCol="0" anchor="t">
            <a:spAutoFit/>
          </a:bodyPr>
          <a:lstStyle/>
          <a:p>
            <a:pPr algn="l">
              <a:lnSpc>
                <a:spcPts val="3600"/>
              </a:lnSpc>
            </a:pPr>
            <a:r>
              <a:rPr lang="en-US" sz="3000">
                <a:solidFill>
                  <a:srgbClr val="F46F25"/>
                </a:solidFill>
                <a:latin typeface="思源宋体-超粗体"/>
              </a:rPr>
              <a:t>PART TWO</a:t>
            </a:r>
          </a:p>
        </p:txBody>
      </p:sp>
      <p:sp>
        <p:nvSpPr>
          <p:cNvPr id="6" name="TextBox 6"/>
          <p:cNvSpPr txBox="1"/>
          <p:nvPr/>
        </p:nvSpPr>
        <p:spPr>
          <a:xfrm>
            <a:off x="15664555" y="9765439"/>
            <a:ext cx="2096191" cy="266700"/>
          </a:xfrm>
          <a:prstGeom prst="rect">
            <a:avLst/>
          </a:prstGeom>
        </p:spPr>
        <p:txBody>
          <a:bodyPr lIns="0" tIns="0" rIns="0" bIns="0" rtlCol="0" anchor="t">
            <a:spAutoFit/>
          </a:bodyPr>
          <a:lstStyle/>
          <a:p>
            <a:pPr algn="r">
              <a:lnSpc>
                <a:spcPts val="2160"/>
              </a:lnSpc>
            </a:pPr>
            <a:r>
              <a:rPr lang="en-US" sz="1800">
                <a:solidFill>
                  <a:srgbClr val="000000"/>
                </a:solidFill>
                <a:latin typeface="Montserrat Bold"/>
              </a:rPr>
              <a:t>4</a:t>
            </a:r>
          </a:p>
        </p:txBody>
      </p:sp>
      <p:sp>
        <p:nvSpPr>
          <p:cNvPr id="7" name="Freeform 7"/>
          <p:cNvSpPr/>
          <p:nvPr/>
        </p:nvSpPr>
        <p:spPr>
          <a:xfrm>
            <a:off x="7233" y="28199"/>
            <a:ext cx="2042934" cy="1519607"/>
          </a:xfrm>
          <a:custGeom>
            <a:avLst/>
            <a:gdLst/>
            <a:ahLst/>
            <a:cxnLst/>
            <a:rect l="l" t="t" r="r" b="b"/>
            <a:pathLst>
              <a:path w="2042934" h="1519607">
                <a:moveTo>
                  <a:pt x="0" y="0"/>
                </a:moveTo>
                <a:lnTo>
                  <a:pt x="2042934" y="0"/>
                </a:lnTo>
                <a:lnTo>
                  <a:pt x="2042934" y="1519607"/>
                </a:lnTo>
                <a:lnTo>
                  <a:pt x="0" y="1519607"/>
                </a:lnTo>
                <a:lnTo>
                  <a:pt x="0" y="0"/>
                </a:lnTo>
                <a:close/>
              </a:path>
            </a:pathLst>
          </a:custGeom>
          <a:blipFill>
            <a:blip r:embed="rId6"/>
            <a:stretch>
              <a:fillRect l="-21376" r="-29891"/>
            </a:stretch>
          </a:blipFill>
        </p:spPr>
      </p:sp>
      <p:sp>
        <p:nvSpPr>
          <p:cNvPr id="8" name="TextBox 8"/>
          <p:cNvSpPr txBox="1"/>
          <p:nvPr/>
        </p:nvSpPr>
        <p:spPr>
          <a:xfrm>
            <a:off x="14952666" y="526065"/>
            <a:ext cx="3367145" cy="266700"/>
          </a:xfrm>
          <a:prstGeom prst="rect">
            <a:avLst/>
          </a:prstGeom>
        </p:spPr>
        <p:txBody>
          <a:bodyPr lIns="0" tIns="0" rIns="0" bIns="0" rtlCol="0" anchor="t">
            <a:spAutoFit/>
          </a:bodyPr>
          <a:lstStyle/>
          <a:p>
            <a:pPr algn="ctr">
              <a:lnSpc>
                <a:spcPts val="2160"/>
              </a:lnSpc>
            </a:pPr>
            <a:r>
              <a:rPr lang="en-US" sz="1800">
                <a:solidFill>
                  <a:srgbClr val="262626"/>
                </a:solidFill>
                <a:latin typeface="Montserrat Ultra-Bold"/>
              </a:rPr>
              <a:t>Product Brochure</a:t>
            </a:r>
          </a:p>
        </p:txBody>
      </p:sp>
      <p:sp>
        <p:nvSpPr>
          <p:cNvPr id="9" name="TextBox 9"/>
          <p:cNvSpPr txBox="1"/>
          <p:nvPr/>
        </p:nvSpPr>
        <p:spPr>
          <a:xfrm>
            <a:off x="311745" y="2164080"/>
            <a:ext cx="4640833" cy="4427220"/>
          </a:xfrm>
          <a:prstGeom prst="rect">
            <a:avLst/>
          </a:prstGeom>
        </p:spPr>
        <p:txBody>
          <a:bodyPr lIns="0" tIns="0" rIns="0" bIns="0" rtlCol="0" anchor="t">
            <a:spAutoFit/>
          </a:bodyPr>
          <a:lstStyle/>
          <a:p>
            <a:pPr marL="323850" lvl="1" indent="-161925">
              <a:lnSpc>
                <a:spcPts val="2340"/>
              </a:lnSpc>
              <a:buFont typeface="Arial"/>
              <a:buChar char="•"/>
            </a:pPr>
            <a:r>
              <a:rPr lang="en-US" sz="1500" dirty="0">
                <a:solidFill>
                  <a:srgbClr val="000000"/>
                </a:solidFill>
                <a:latin typeface="思源黑体"/>
              </a:rPr>
              <a:t>45 Degree Double Head Miter Saw</a:t>
            </a:r>
          </a:p>
          <a:p>
            <a:pPr marL="323850" lvl="1" indent="-161925">
              <a:lnSpc>
                <a:spcPts val="2340"/>
              </a:lnSpc>
              <a:buFont typeface="Arial"/>
              <a:buChar char="•"/>
            </a:pPr>
            <a:r>
              <a:rPr lang="en-US" sz="1500" dirty="0">
                <a:solidFill>
                  <a:srgbClr val="000000"/>
                </a:solidFill>
                <a:latin typeface="思源黑体"/>
              </a:rPr>
              <a:t>45 Degree Double Head Miter Saw (Dove Tail)</a:t>
            </a:r>
          </a:p>
          <a:p>
            <a:pPr marL="323850" lvl="1" indent="-161925">
              <a:lnSpc>
                <a:spcPts val="2340"/>
              </a:lnSpc>
              <a:buFont typeface="Arial"/>
              <a:buChar char="•"/>
            </a:pPr>
            <a:r>
              <a:rPr lang="en-US" sz="1500" dirty="0">
                <a:solidFill>
                  <a:srgbClr val="000000"/>
                </a:solidFill>
                <a:latin typeface="思源黑体"/>
              </a:rPr>
              <a:t>Fully Automatic 45 Degree Miter Saw</a:t>
            </a:r>
          </a:p>
          <a:p>
            <a:pPr marL="323850" lvl="1" indent="-161925">
              <a:lnSpc>
                <a:spcPts val="2340"/>
              </a:lnSpc>
              <a:buFont typeface="Arial"/>
              <a:buChar char="•"/>
            </a:pPr>
            <a:r>
              <a:rPr lang="en-US" sz="1500" dirty="0">
                <a:solidFill>
                  <a:srgbClr val="000000"/>
                </a:solidFill>
                <a:latin typeface="思源黑体"/>
              </a:rPr>
              <a:t>Vertical Lift 45 Degree Miter Saw (Cutting)</a:t>
            </a:r>
          </a:p>
          <a:p>
            <a:pPr marL="323850" lvl="1" indent="-161925">
              <a:lnSpc>
                <a:spcPts val="2340"/>
              </a:lnSpc>
              <a:buFont typeface="Arial"/>
              <a:buChar char="•"/>
            </a:pPr>
            <a:r>
              <a:rPr lang="en-US" sz="1500" dirty="0">
                <a:solidFill>
                  <a:srgbClr val="000000"/>
                </a:solidFill>
                <a:latin typeface="思源黑体"/>
              </a:rPr>
              <a:t>Vertical Lift 45 Degree Miter Saw (Non-Cutting)</a:t>
            </a:r>
          </a:p>
          <a:p>
            <a:pPr marL="323850" lvl="1" indent="-161925">
              <a:lnSpc>
                <a:spcPts val="2340"/>
              </a:lnSpc>
              <a:buFont typeface="Arial"/>
              <a:buChar char="•"/>
            </a:pPr>
            <a:r>
              <a:rPr lang="en-US" sz="1500" dirty="0">
                <a:solidFill>
                  <a:srgbClr val="000000"/>
                </a:solidFill>
                <a:latin typeface="思源黑体"/>
              </a:rPr>
              <a:t>350 Lift Table Angle Machine</a:t>
            </a:r>
          </a:p>
          <a:p>
            <a:pPr marL="323850" lvl="1" indent="-161925">
              <a:lnSpc>
                <a:spcPts val="2340"/>
              </a:lnSpc>
              <a:buFont typeface="Arial"/>
              <a:buChar char="•"/>
            </a:pPr>
            <a:r>
              <a:rPr lang="en-US" sz="1500" dirty="0">
                <a:solidFill>
                  <a:srgbClr val="000000"/>
                </a:solidFill>
                <a:latin typeface="思源黑体"/>
              </a:rPr>
              <a:t>405 Lift Table Angle Machine</a:t>
            </a:r>
          </a:p>
          <a:p>
            <a:pPr marL="323850" lvl="1" indent="-161925">
              <a:lnSpc>
                <a:spcPts val="2340"/>
              </a:lnSpc>
              <a:buFont typeface="Arial"/>
              <a:buChar char="•"/>
            </a:pPr>
            <a:r>
              <a:rPr lang="en-US" sz="1500" dirty="0">
                <a:solidFill>
                  <a:srgbClr val="000000"/>
                </a:solidFill>
                <a:latin typeface="思源黑体"/>
              </a:rPr>
              <a:t>Fully Automatic Vertical Lift Table Angle Machine</a:t>
            </a:r>
          </a:p>
          <a:p>
            <a:pPr marL="323850" lvl="1" indent="-161925">
              <a:lnSpc>
                <a:spcPts val="2340"/>
              </a:lnSpc>
              <a:buFont typeface="Arial"/>
              <a:buChar char="•"/>
            </a:pPr>
            <a:r>
              <a:rPr lang="en-US" sz="1500" dirty="0">
                <a:solidFill>
                  <a:srgbClr val="000000"/>
                </a:solidFill>
                <a:latin typeface="思源黑体"/>
              </a:rPr>
              <a:t>CNC Vertical Lift Miter Saw (Automatic Feed)</a:t>
            </a:r>
          </a:p>
          <a:p>
            <a:pPr marL="323850" lvl="1" indent="-161925">
              <a:lnSpc>
                <a:spcPts val="2340"/>
              </a:lnSpc>
              <a:buFont typeface="Arial"/>
              <a:buChar char="•"/>
            </a:pPr>
            <a:r>
              <a:rPr lang="en-US" sz="1500" dirty="0">
                <a:solidFill>
                  <a:srgbClr val="000000"/>
                </a:solidFill>
                <a:latin typeface="思源黑体"/>
              </a:rPr>
              <a:t>305 Single Head Sliding Miter Saw</a:t>
            </a:r>
          </a:p>
          <a:p>
            <a:pPr marL="323850" lvl="1" indent="-161925">
              <a:lnSpc>
                <a:spcPts val="2340"/>
              </a:lnSpc>
              <a:buFont typeface="Arial"/>
              <a:buChar char="•"/>
            </a:pPr>
            <a:r>
              <a:rPr lang="en-US" sz="1500" dirty="0">
                <a:solidFill>
                  <a:srgbClr val="000000"/>
                </a:solidFill>
                <a:latin typeface="思源黑体"/>
              </a:rPr>
              <a:t>Any Angle Cutting Machine</a:t>
            </a:r>
          </a:p>
          <a:p>
            <a:pPr marL="323850" lvl="1" indent="-161925">
              <a:lnSpc>
                <a:spcPts val="2340"/>
              </a:lnSpc>
              <a:buFont typeface="Arial"/>
              <a:buChar char="•"/>
            </a:pPr>
            <a:r>
              <a:rPr lang="en-US" sz="1500" dirty="0">
                <a:solidFill>
                  <a:srgbClr val="000000"/>
                </a:solidFill>
                <a:latin typeface="思源黑体"/>
              </a:rPr>
              <a:t>Sliding Door Saw</a:t>
            </a:r>
          </a:p>
          <a:p>
            <a:pPr marL="323850" lvl="1" indent="-161925">
              <a:lnSpc>
                <a:spcPts val="2340"/>
              </a:lnSpc>
              <a:buFont typeface="Arial"/>
              <a:buChar char="•"/>
            </a:pPr>
            <a:r>
              <a:rPr lang="en-US" sz="1500" dirty="0">
                <a:solidFill>
                  <a:srgbClr val="000000"/>
                </a:solidFill>
                <a:latin typeface="思源黑体"/>
              </a:rPr>
              <a:t>550 Fully Automatic Double End Saw</a:t>
            </a:r>
          </a:p>
          <a:p>
            <a:pPr marL="323850" lvl="1" indent="-161925">
              <a:lnSpc>
                <a:spcPts val="2340"/>
              </a:lnSpc>
              <a:buFont typeface="Arial"/>
              <a:buChar char="•"/>
            </a:pPr>
            <a:r>
              <a:rPr lang="en-US" sz="1500" dirty="0">
                <a:solidFill>
                  <a:srgbClr val="000000"/>
                </a:solidFill>
                <a:latin typeface="思源黑体"/>
              </a:rPr>
              <a:t>550 Manual Double End Saw</a:t>
            </a:r>
          </a:p>
          <a:p>
            <a:pPr marL="323850" lvl="1" indent="-161925">
              <a:lnSpc>
                <a:spcPts val="2340"/>
              </a:lnSpc>
              <a:buFont typeface="Arial"/>
              <a:buChar char="•"/>
            </a:pPr>
            <a:r>
              <a:rPr lang="en-US" sz="1500" dirty="0">
                <a:solidFill>
                  <a:srgbClr val="000000"/>
                </a:solidFill>
                <a:latin typeface="思源黑体"/>
              </a:rPr>
              <a:t>45 Degree Dedicated Double End Miter Saw</a:t>
            </a:r>
          </a:p>
        </p:txBody>
      </p:sp>
      <p:sp>
        <p:nvSpPr>
          <p:cNvPr id="10" name="TextBox 10"/>
          <p:cNvSpPr txBox="1"/>
          <p:nvPr/>
        </p:nvSpPr>
        <p:spPr>
          <a:xfrm>
            <a:off x="5492191" y="4831080"/>
            <a:ext cx="4719117" cy="4427220"/>
          </a:xfrm>
          <a:prstGeom prst="rect">
            <a:avLst/>
          </a:prstGeom>
        </p:spPr>
        <p:txBody>
          <a:bodyPr lIns="0" tIns="0" rIns="0" bIns="0" rtlCol="0" anchor="t">
            <a:spAutoFit/>
          </a:bodyPr>
          <a:lstStyle/>
          <a:p>
            <a:pPr marL="323850" lvl="1" indent="-161925">
              <a:lnSpc>
                <a:spcPts val="2340"/>
              </a:lnSpc>
              <a:buFont typeface="Arial"/>
              <a:buChar char="•"/>
            </a:pPr>
            <a:r>
              <a:rPr lang="en-US" sz="1500" dirty="0">
                <a:latin typeface="思源黑体"/>
              </a:rPr>
              <a:t>CNC Material Cutting Machine</a:t>
            </a:r>
          </a:p>
          <a:p>
            <a:pPr marL="323850" lvl="1" indent="-161925">
              <a:lnSpc>
                <a:spcPts val="2340"/>
              </a:lnSpc>
              <a:buFont typeface="Arial"/>
              <a:buChar char="•"/>
            </a:pPr>
            <a:r>
              <a:rPr lang="en-US" sz="1500" dirty="0">
                <a:latin typeface="思源黑体"/>
              </a:rPr>
              <a:t>CNC Polygonal Bending Machine</a:t>
            </a:r>
          </a:p>
          <a:p>
            <a:pPr marL="323850" lvl="1" indent="-161925">
              <a:lnSpc>
                <a:spcPts val="2340"/>
              </a:lnSpc>
              <a:buFont typeface="Arial"/>
              <a:buChar char="•"/>
            </a:pPr>
            <a:r>
              <a:rPr lang="en-US" sz="1500" dirty="0">
                <a:latin typeface="思源黑体"/>
              </a:rPr>
              <a:t>45 Degree Sliding Miter Saw</a:t>
            </a:r>
          </a:p>
          <a:p>
            <a:pPr marL="323850" lvl="1" indent="-161925">
              <a:lnSpc>
                <a:spcPts val="2340"/>
              </a:lnSpc>
              <a:buFont typeface="Arial"/>
              <a:buChar char="•"/>
            </a:pPr>
            <a:r>
              <a:rPr lang="en-US" sz="1500" dirty="0">
                <a:latin typeface="思源黑体"/>
              </a:rPr>
              <a:t>T-Bar Cutting Machine</a:t>
            </a:r>
          </a:p>
          <a:p>
            <a:pPr marL="323850" lvl="1" indent="-161925">
              <a:lnSpc>
                <a:spcPts val="2340"/>
              </a:lnSpc>
              <a:buFont typeface="Arial"/>
              <a:buChar char="•"/>
            </a:pPr>
            <a:r>
              <a:rPr lang="en-US" sz="1500" dirty="0">
                <a:latin typeface="思源黑体"/>
              </a:rPr>
              <a:t>CNC T-Bar Cutting Machine</a:t>
            </a:r>
          </a:p>
          <a:p>
            <a:pPr marL="323850" lvl="1" indent="-161925">
              <a:lnSpc>
                <a:spcPts val="2340"/>
              </a:lnSpc>
              <a:buFont typeface="Arial"/>
              <a:buChar char="•"/>
            </a:pPr>
            <a:r>
              <a:rPr lang="en-US" sz="1500" dirty="0">
                <a:latin typeface="思源黑体"/>
              </a:rPr>
              <a:t>Double Station Automatic Welding Machine</a:t>
            </a:r>
          </a:p>
          <a:p>
            <a:pPr marL="323850" lvl="1" indent="-161925">
              <a:lnSpc>
                <a:spcPts val="2340"/>
              </a:lnSpc>
              <a:buFont typeface="Arial"/>
              <a:buChar char="•"/>
            </a:pPr>
            <a:r>
              <a:rPr lang="en-US" sz="1500" dirty="0">
                <a:latin typeface="思源黑体"/>
              </a:rPr>
              <a:t>3m CNC Drilling and Milling Machine</a:t>
            </a:r>
          </a:p>
          <a:p>
            <a:pPr marL="323850" lvl="1" indent="-161925">
              <a:lnSpc>
                <a:spcPts val="2340"/>
              </a:lnSpc>
              <a:buFont typeface="Arial"/>
              <a:buChar char="•"/>
            </a:pPr>
            <a:r>
              <a:rPr lang="en-US" sz="1500" dirty="0">
                <a:latin typeface="思源黑体"/>
              </a:rPr>
              <a:t>3m CNC Double Head Drilling and Milling Machine</a:t>
            </a:r>
          </a:p>
          <a:p>
            <a:pPr marL="323850" lvl="1" indent="-161925">
              <a:lnSpc>
                <a:spcPts val="2340"/>
              </a:lnSpc>
              <a:buFont typeface="Arial"/>
              <a:buChar char="•"/>
            </a:pPr>
            <a:r>
              <a:rPr lang="en-US" sz="1500" dirty="0">
                <a:latin typeface="思源黑体"/>
              </a:rPr>
              <a:t>750 CNC Drill Washing Machine</a:t>
            </a:r>
          </a:p>
          <a:p>
            <a:pPr marL="323850" lvl="1" indent="-161925">
              <a:lnSpc>
                <a:spcPts val="2340"/>
              </a:lnSpc>
              <a:buFont typeface="Arial"/>
              <a:buChar char="•"/>
            </a:pPr>
            <a:r>
              <a:rPr lang="en-US" sz="1500" dirty="0">
                <a:latin typeface="思源黑体"/>
              </a:rPr>
              <a:t>90 Degree Hydraulic Shearing Machine</a:t>
            </a:r>
          </a:p>
          <a:p>
            <a:pPr marL="323850" lvl="1" indent="-161925">
              <a:lnSpc>
                <a:spcPts val="2340"/>
              </a:lnSpc>
              <a:buFont typeface="Arial"/>
              <a:buChar char="•"/>
            </a:pPr>
            <a:r>
              <a:rPr lang="en-US" sz="1500" dirty="0">
                <a:latin typeface="思源黑体"/>
              </a:rPr>
              <a:t>Fully Automatic Hydraulic Shearing Machine</a:t>
            </a:r>
          </a:p>
          <a:p>
            <a:pPr marL="323850" lvl="1" indent="-161925">
              <a:lnSpc>
                <a:spcPts val="2340"/>
              </a:lnSpc>
              <a:buFont typeface="Arial"/>
              <a:buChar char="•"/>
            </a:pPr>
            <a:r>
              <a:rPr lang="en-US" sz="1500" dirty="0">
                <a:latin typeface="思源黑体"/>
              </a:rPr>
              <a:t>700 Full Plate Shearing Machine</a:t>
            </a:r>
          </a:p>
          <a:p>
            <a:pPr marL="323850" lvl="1" indent="-161925">
              <a:lnSpc>
                <a:spcPts val="2340"/>
              </a:lnSpc>
              <a:buFont typeface="Arial"/>
              <a:buChar char="•"/>
            </a:pPr>
            <a:r>
              <a:rPr lang="en-US" sz="1500" dirty="0">
                <a:latin typeface="思源黑体"/>
              </a:rPr>
              <a:t>CNC Full Plate Drilling Machine</a:t>
            </a:r>
          </a:p>
          <a:p>
            <a:pPr marL="323850" lvl="1" indent="-161925">
              <a:lnSpc>
                <a:spcPts val="2340"/>
              </a:lnSpc>
              <a:buFont typeface="Arial"/>
              <a:buChar char="•"/>
            </a:pPr>
            <a:r>
              <a:rPr lang="en-US" sz="1500" dirty="0">
                <a:latin typeface="思源黑体"/>
              </a:rPr>
              <a:t>90 Degree Inverted Shearing Machine</a:t>
            </a:r>
          </a:p>
          <a:p>
            <a:pPr marL="323850" lvl="1" indent="-161925">
              <a:lnSpc>
                <a:spcPts val="2340"/>
              </a:lnSpc>
              <a:buFont typeface="Arial"/>
              <a:buChar char="•"/>
            </a:pPr>
            <a:r>
              <a:rPr lang="en-US" sz="1500" dirty="0">
                <a:latin typeface="思源黑体"/>
              </a:rPr>
              <a:t>Pneumatic Precision Shearing Machine</a:t>
            </a:r>
          </a:p>
        </p:txBody>
      </p:sp>
      <p:sp>
        <p:nvSpPr>
          <p:cNvPr id="11" name="TextBox 11"/>
          <p:cNvSpPr txBox="1"/>
          <p:nvPr/>
        </p:nvSpPr>
        <p:spPr>
          <a:xfrm>
            <a:off x="10750921" y="1562100"/>
            <a:ext cx="4913635" cy="4427220"/>
          </a:xfrm>
          <a:prstGeom prst="rect">
            <a:avLst/>
          </a:prstGeom>
        </p:spPr>
        <p:txBody>
          <a:bodyPr lIns="0" tIns="0" rIns="0" bIns="0" rtlCol="0" anchor="t">
            <a:spAutoFit/>
          </a:bodyPr>
          <a:lstStyle/>
          <a:p>
            <a:pPr marL="323850" lvl="1" indent="-161925">
              <a:lnSpc>
                <a:spcPts val="2340"/>
              </a:lnSpc>
              <a:buFont typeface="Arial"/>
              <a:buChar char="•"/>
            </a:pPr>
            <a:r>
              <a:rPr lang="en-US" sz="1500" dirty="0">
                <a:solidFill>
                  <a:srgbClr val="000000"/>
                </a:solidFill>
                <a:latin typeface="思源黑体"/>
              </a:rPr>
              <a:t>Automatic </a:t>
            </a:r>
            <a:r>
              <a:rPr lang="en-US" sz="1500" dirty="0" err="1">
                <a:solidFill>
                  <a:srgbClr val="000000"/>
                </a:solidFill>
                <a:latin typeface="思源黑体"/>
              </a:rPr>
              <a:t>Decoiling</a:t>
            </a:r>
            <a:r>
              <a:rPr lang="en-US" sz="1500" dirty="0">
                <a:solidFill>
                  <a:srgbClr val="000000"/>
                </a:solidFill>
                <a:latin typeface="思源黑体"/>
              </a:rPr>
              <a:t> Machine</a:t>
            </a:r>
          </a:p>
          <a:p>
            <a:pPr marL="323850" lvl="1" indent="-161925">
              <a:lnSpc>
                <a:spcPts val="2340"/>
              </a:lnSpc>
              <a:buFont typeface="Arial"/>
              <a:buChar char="•"/>
            </a:pPr>
            <a:r>
              <a:rPr lang="en-US" sz="1500" dirty="0">
                <a:solidFill>
                  <a:srgbClr val="000000"/>
                </a:solidFill>
                <a:latin typeface="思源黑体"/>
              </a:rPr>
              <a:t>Automatic Feed Saw</a:t>
            </a:r>
          </a:p>
          <a:p>
            <a:pPr marL="323850" lvl="1" indent="-161925">
              <a:lnSpc>
                <a:spcPts val="2340"/>
              </a:lnSpc>
              <a:buFont typeface="Arial"/>
              <a:buChar char="•"/>
            </a:pPr>
            <a:r>
              <a:rPr lang="en-US" sz="1500" dirty="0">
                <a:solidFill>
                  <a:srgbClr val="000000"/>
                </a:solidFill>
                <a:latin typeface="思源黑体"/>
              </a:rPr>
              <a:t>90 Degree Precision Panel Saw</a:t>
            </a:r>
          </a:p>
          <a:p>
            <a:pPr marL="323850" lvl="1" indent="-161925">
              <a:lnSpc>
                <a:spcPts val="2340"/>
              </a:lnSpc>
              <a:buFont typeface="Arial"/>
              <a:buChar char="•"/>
            </a:pPr>
            <a:r>
              <a:rPr lang="en-US" sz="1500" dirty="0">
                <a:solidFill>
                  <a:srgbClr val="000000"/>
                </a:solidFill>
                <a:latin typeface="思源黑体"/>
              </a:rPr>
              <a:t>Straightening Machine with Grooving Function</a:t>
            </a:r>
          </a:p>
          <a:p>
            <a:pPr marL="323850" lvl="1" indent="-161925">
              <a:lnSpc>
                <a:spcPts val="2340"/>
              </a:lnSpc>
              <a:buFont typeface="Arial"/>
              <a:buChar char="•"/>
            </a:pPr>
            <a:r>
              <a:rPr lang="en-US" sz="1500" dirty="0">
                <a:solidFill>
                  <a:srgbClr val="000000"/>
                </a:solidFill>
                <a:latin typeface="思源黑体"/>
              </a:rPr>
              <a:t>Straightening Machine with Milling Groove Function</a:t>
            </a:r>
          </a:p>
          <a:p>
            <a:pPr marL="323850" lvl="1" indent="-161925">
              <a:lnSpc>
                <a:spcPts val="2340"/>
              </a:lnSpc>
              <a:buFont typeface="Arial"/>
              <a:buChar char="•"/>
            </a:pPr>
            <a:r>
              <a:rPr lang="en-US" sz="1500" dirty="0">
                <a:solidFill>
                  <a:srgbClr val="000000"/>
                </a:solidFill>
                <a:latin typeface="思源黑体"/>
              </a:rPr>
              <a:t>CNC Polygonal Bending Machine</a:t>
            </a:r>
          </a:p>
          <a:p>
            <a:pPr marL="323850" lvl="1" indent="-161925">
              <a:lnSpc>
                <a:spcPts val="2340"/>
              </a:lnSpc>
              <a:buFont typeface="Arial"/>
              <a:buChar char="•"/>
            </a:pPr>
            <a:r>
              <a:rPr lang="en-US" sz="1500" dirty="0">
                <a:solidFill>
                  <a:srgbClr val="000000"/>
                </a:solidFill>
                <a:latin typeface="思源黑体"/>
              </a:rPr>
              <a:t>Electric Bending Machine</a:t>
            </a:r>
          </a:p>
          <a:p>
            <a:pPr marL="323850" lvl="1" indent="-161925">
              <a:lnSpc>
                <a:spcPts val="2340"/>
              </a:lnSpc>
              <a:buFont typeface="Arial"/>
              <a:buChar char="•"/>
            </a:pPr>
            <a:r>
              <a:rPr lang="en-US" sz="1500" dirty="0">
                <a:solidFill>
                  <a:srgbClr val="000000"/>
                </a:solidFill>
                <a:latin typeface="思源黑体"/>
              </a:rPr>
              <a:t>Apple Light Box Bending Machine</a:t>
            </a:r>
          </a:p>
          <a:p>
            <a:pPr marL="323850" lvl="1" indent="-161925">
              <a:lnSpc>
                <a:spcPts val="2340"/>
              </a:lnSpc>
              <a:buFont typeface="Arial"/>
              <a:buChar char="•"/>
            </a:pPr>
            <a:r>
              <a:rPr lang="en-US" sz="1500" dirty="0">
                <a:solidFill>
                  <a:srgbClr val="000000"/>
                </a:solidFill>
                <a:latin typeface="思源黑体"/>
              </a:rPr>
              <a:t>Apple Light Box Punching Machine</a:t>
            </a:r>
          </a:p>
          <a:p>
            <a:pPr marL="323850" lvl="1" indent="-161925">
              <a:lnSpc>
                <a:spcPts val="2340"/>
              </a:lnSpc>
              <a:buFont typeface="Arial"/>
              <a:buChar char="•"/>
            </a:pPr>
            <a:r>
              <a:rPr lang="en-US" sz="1500" dirty="0">
                <a:solidFill>
                  <a:srgbClr val="000000"/>
                </a:solidFill>
                <a:latin typeface="思源黑体"/>
              </a:rPr>
              <a:t>Single Head Hinge Drilling Machine</a:t>
            </a:r>
          </a:p>
          <a:p>
            <a:pPr marL="323850" lvl="1" indent="-161925">
              <a:lnSpc>
                <a:spcPts val="2340"/>
              </a:lnSpc>
              <a:buFont typeface="Arial"/>
              <a:buChar char="•"/>
            </a:pPr>
            <a:r>
              <a:rPr lang="en-US" sz="1500" dirty="0">
                <a:solidFill>
                  <a:srgbClr val="000000"/>
                </a:solidFill>
                <a:latin typeface="思源黑体"/>
              </a:rPr>
              <a:t>Double Head Hinge Drilling Machine</a:t>
            </a:r>
          </a:p>
          <a:p>
            <a:pPr marL="323850" lvl="1" indent="-161925">
              <a:lnSpc>
                <a:spcPts val="2340"/>
              </a:lnSpc>
              <a:buFont typeface="Arial"/>
              <a:buChar char="•"/>
            </a:pPr>
            <a:r>
              <a:rPr lang="en-US" sz="1500" dirty="0">
                <a:solidFill>
                  <a:srgbClr val="000000"/>
                </a:solidFill>
                <a:latin typeface="思源黑体"/>
              </a:rPr>
              <a:t>Solid Wood Side Hole Drilling Machine</a:t>
            </a:r>
          </a:p>
          <a:p>
            <a:pPr marL="323850" lvl="1" indent="-161925">
              <a:lnSpc>
                <a:spcPts val="2340"/>
              </a:lnSpc>
              <a:buFont typeface="Arial"/>
              <a:buChar char="•"/>
            </a:pPr>
            <a:r>
              <a:rPr lang="en-US" sz="1500" dirty="0">
                <a:solidFill>
                  <a:srgbClr val="000000"/>
                </a:solidFill>
                <a:latin typeface="思源黑体"/>
              </a:rPr>
              <a:t>CNC 45 Degree Angle Drilling and Cutting Machine</a:t>
            </a:r>
          </a:p>
          <a:p>
            <a:pPr marL="323850" lvl="1" indent="-161925">
              <a:lnSpc>
                <a:spcPts val="2340"/>
              </a:lnSpc>
              <a:buFont typeface="Arial"/>
              <a:buChar char="•"/>
            </a:pPr>
            <a:r>
              <a:rPr lang="en-US" sz="1500" dirty="0">
                <a:solidFill>
                  <a:srgbClr val="000000"/>
                </a:solidFill>
                <a:latin typeface="思源黑体"/>
              </a:rPr>
              <a:t>Back Panel Grooving Machine</a:t>
            </a:r>
          </a:p>
          <a:p>
            <a:pPr marL="323850" lvl="1" indent="-161925">
              <a:lnSpc>
                <a:spcPts val="2340"/>
              </a:lnSpc>
              <a:buFont typeface="Arial"/>
              <a:buChar char="•"/>
            </a:pPr>
            <a:r>
              <a:rPr lang="en-US" sz="1500" dirty="0">
                <a:solidFill>
                  <a:srgbClr val="000000"/>
                </a:solidFill>
                <a:latin typeface="思源黑体"/>
              </a:rPr>
              <a:t>650 Stroke Transverse Machine</a:t>
            </a:r>
          </a:p>
        </p:txBody>
      </p:sp>
      <p:sp>
        <p:nvSpPr>
          <p:cNvPr id="12" name="TextBox 12"/>
          <p:cNvSpPr txBox="1"/>
          <p:nvPr/>
        </p:nvSpPr>
        <p:spPr>
          <a:xfrm>
            <a:off x="14671682" y="6102543"/>
            <a:ext cx="3299892" cy="2950845"/>
          </a:xfrm>
          <a:prstGeom prst="rect">
            <a:avLst/>
          </a:prstGeom>
        </p:spPr>
        <p:txBody>
          <a:bodyPr lIns="0" tIns="0" rIns="0" bIns="0" rtlCol="0" anchor="t">
            <a:spAutoFit/>
          </a:bodyPr>
          <a:lstStyle/>
          <a:p>
            <a:pPr marL="323850" lvl="1" indent="-161925">
              <a:lnSpc>
                <a:spcPts val="2340"/>
              </a:lnSpc>
              <a:buFont typeface="Arial"/>
              <a:buChar char="•"/>
            </a:pPr>
            <a:r>
              <a:rPr lang="en-US" sz="1500" dirty="0">
                <a:solidFill>
                  <a:srgbClr val="000000"/>
                </a:solidFill>
                <a:latin typeface="思源黑体"/>
              </a:rPr>
              <a:t>Single Head Bending Machine</a:t>
            </a:r>
          </a:p>
          <a:p>
            <a:pPr marL="323850" lvl="1" indent="-161925">
              <a:lnSpc>
                <a:spcPts val="2340"/>
              </a:lnSpc>
              <a:buFont typeface="Arial"/>
              <a:buChar char="•"/>
            </a:pPr>
            <a:r>
              <a:rPr lang="en-US" sz="1500" dirty="0">
                <a:solidFill>
                  <a:srgbClr val="000000"/>
                </a:solidFill>
                <a:latin typeface="思源黑体"/>
              </a:rPr>
              <a:t>Hydraulic Frame Joining Machine</a:t>
            </a:r>
          </a:p>
          <a:p>
            <a:pPr marL="323850" lvl="1" indent="-161925">
              <a:lnSpc>
                <a:spcPts val="2340"/>
              </a:lnSpc>
              <a:buFont typeface="Arial"/>
              <a:buChar char="•"/>
            </a:pPr>
            <a:r>
              <a:rPr lang="en-US" sz="1500" dirty="0">
                <a:solidFill>
                  <a:srgbClr val="000000"/>
                </a:solidFill>
                <a:latin typeface="思源黑体"/>
              </a:rPr>
              <a:t>Corner Joining Machine</a:t>
            </a:r>
          </a:p>
          <a:p>
            <a:pPr marL="323850" lvl="1" indent="-161925">
              <a:lnSpc>
                <a:spcPts val="2340"/>
              </a:lnSpc>
              <a:buFont typeface="Arial"/>
              <a:buChar char="•"/>
            </a:pPr>
            <a:r>
              <a:rPr lang="en-US" sz="1500" dirty="0">
                <a:solidFill>
                  <a:srgbClr val="000000"/>
                </a:solidFill>
                <a:latin typeface="思源黑体"/>
              </a:rPr>
              <a:t>Lock Catch Joining Machine</a:t>
            </a:r>
          </a:p>
          <a:p>
            <a:pPr marL="323850" lvl="1" indent="-161925">
              <a:lnSpc>
                <a:spcPts val="2340"/>
              </a:lnSpc>
              <a:buFont typeface="Arial"/>
              <a:buChar char="•"/>
            </a:pPr>
            <a:r>
              <a:rPr lang="en-US" sz="1500" dirty="0">
                <a:solidFill>
                  <a:srgbClr val="000000"/>
                </a:solidFill>
                <a:latin typeface="思源黑体"/>
              </a:rPr>
              <a:t>Automatic Screw Driving Machine</a:t>
            </a:r>
          </a:p>
          <a:p>
            <a:pPr marL="323850" lvl="1" indent="-161925">
              <a:lnSpc>
                <a:spcPts val="2340"/>
              </a:lnSpc>
              <a:buFont typeface="Arial"/>
              <a:buChar char="•"/>
            </a:pPr>
            <a:r>
              <a:rPr lang="en-US" sz="1500" dirty="0">
                <a:solidFill>
                  <a:srgbClr val="000000"/>
                </a:solidFill>
                <a:latin typeface="思源黑体"/>
              </a:rPr>
              <a:t>Panel Light Double End Saw</a:t>
            </a:r>
          </a:p>
          <a:p>
            <a:pPr marL="323850" lvl="1" indent="-161925">
              <a:lnSpc>
                <a:spcPts val="2340"/>
              </a:lnSpc>
              <a:buFont typeface="Arial"/>
              <a:buChar char="•"/>
            </a:pPr>
            <a:r>
              <a:rPr lang="en-US" sz="1500" dirty="0">
                <a:solidFill>
                  <a:srgbClr val="000000"/>
                </a:solidFill>
                <a:latin typeface="思源黑体"/>
              </a:rPr>
              <a:t>CNC Panel Light Miter Saw</a:t>
            </a:r>
          </a:p>
          <a:p>
            <a:pPr marL="323850" lvl="1" indent="-161925">
              <a:lnSpc>
                <a:spcPts val="2340"/>
              </a:lnSpc>
              <a:buFont typeface="Arial"/>
              <a:buChar char="•"/>
            </a:pPr>
            <a:r>
              <a:rPr lang="en-US" sz="1500" dirty="0">
                <a:solidFill>
                  <a:srgbClr val="000000"/>
                </a:solidFill>
                <a:latin typeface="思源黑体"/>
              </a:rPr>
              <a:t>Laser Corner Bonding Machine</a:t>
            </a:r>
          </a:p>
          <a:p>
            <a:pPr marL="323850" lvl="1" indent="-161925">
              <a:lnSpc>
                <a:spcPts val="2340"/>
              </a:lnSpc>
              <a:buFont typeface="Arial"/>
              <a:buChar char="•"/>
            </a:pPr>
            <a:r>
              <a:rPr lang="en-US" sz="1500" dirty="0">
                <a:solidFill>
                  <a:srgbClr val="000000"/>
                </a:solidFill>
                <a:latin typeface="思源黑体"/>
              </a:rPr>
              <a:t>CNC Positioning Pallet Rack</a:t>
            </a:r>
          </a:p>
          <a:p>
            <a:pPr marL="323850" lvl="1" indent="-161925">
              <a:lnSpc>
                <a:spcPts val="2340"/>
              </a:lnSpc>
              <a:buFont typeface="Arial"/>
              <a:buChar char="•"/>
            </a:pPr>
            <a:r>
              <a:rPr lang="en-US" sz="1500" dirty="0">
                <a:solidFill>
                  <a:srgbClr val="000000"/>
                </a:solidFill>
                <a:latin typeface="思源黑体"/>
              </a:rPr>
              <a:t>Alloy Saw Blades</a:t>
            </a:r>
          </a:p>
        </p:txBody>
      </p:sp>
      <p:sp>
        <p:nvSpPr>
          <p:cNvPr id="14" name="矩形 13">
            <a:extLst>
              <a:ext uri="{FF2B5EF4-FFF2-40B4-BE49-F238E27FC236}">
                <a16:creationId xmlns:a16="http://schemas.microsoft.com/office/drawing/2014/main" id="{7EA8B1CD-BDCF-E471-1D3F-A758F145B1DA}"/>
              </a:ext>
            </a:extLst>
          </p:cNvPr>
          <p:cNvSpPr/>
          <p:nvPr/>
        </p:nvSpPr>
        <p:spPr>
          <a:xfrm>
            <a:off x="316426" y="2055284"/>
            <a:ext cx="4718144" cy="4572000"/>
          </a:xfrm>
          <a:prstGeom prst="rect">
            <a:avLst/>
          </a:prstGeom>
          <a:noFill/>
          <a:ln>
            <a:solidFill>
              <a:schemeClr val="accent6">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矩形 14">
            <a:extLst>
              <a:ext uri="{FF2B5EF4-FFF2-40B4-BE49-F238E27FC236}">
                <a16:creationId xmlns:a16="http://schemas.microsoft.com/office/drawing/2014/main" id="{6B36A885-7014-7BCE-2185-009AFCFB4632}"/>
              </a:ext>
            </a:extLst>
          </p:cNvPr>
          <p:cNvSpPr/>
          <p:nvPr/>
        </p:nvSpPr>
        <p:spPr>
          <a:xfrm>
            <a:off x="10656839" y="1530532"/>
            <a:ext cx="5192761" cy="4451168"/>
          </a:xfrm>
          <a:prstGeom prst="rect">
            <a:avLst/>
          </a:prstGeom>
          <a:noFill/>
          <a:ln>
            <a:solidFill>
              <a:schemeClr val="accent6">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867238C1-F794-B12B-7281-A79C9E079E53}"/>
              </a:ext>
            </a:extLst>
          </p:cNvPr>
          <p:cNvSpPr/>
          <p:nvPr/>
        </p:nvSpPr>
        <p:spPr>
          <a:xfrm>
            <a:off x="14757083" y="6102542"/>
            <a:ext cx="3367145" cy="3228147"/>
          </a:xfrm>
          <a:prstGeom prst="rect">
            <a:avLst/>
          </a:prstGeom>
          <a:noFill/>
          <a:ln>
            <a:solidFill>
              <a:schemeClr val="accent6">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pic>
        <p:nvPicPr>
          <p:cNvPr id="2050" name="Picture 2" descr="角磨机图标_角磨机icon_角磨机矢量图标_88ICON">
            <a:extLst>
              <a:ext uri="{FF2B5EF4-FFF2-40B4-BE49-F238E27FC236}">
                <a16:creationId xmlns:a16="http://schemas.microsoft.com/office/drawing/2014/main" id="{893FB9E6-8B36-68BF-14B6-EF3E5434C479}"/>
              </a:ext>
            </a:extLst>
          </p:cNvPr>
          <p:cNvPicPr>
            <a:picLocks noChangeAspect="1" noChangeArrowheads="1"/>
          </p:cNvPicPr>
          <p:nvPr/>
        </p:nvPicPr>
        <p:blipFill>
          <a:blip r:embed="rId7">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1136160" y="6689570"/>
            <a:ext cx="2724150" cy="27241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机械齿轮icon图片免费下载_PNG素材_编号1xrikjre1_图精灵">
            <a:extLst>
              <a:ext uri="{FF2B5EF4-FFF2-40B4-BE49-F238E27FC236}">
                <a16:creationId xmlns:a16="http://schemas.microsoft.com/office/drawing/2014/main" id="{FDBB674C-4488-F39D-1785-4253B1A14B15}"/>
              </a:ext>
            </a:extLst>
          </p:cNvPr>
          <p:cNvPicPr>
            <a:picLocks noChangeAspect="1" noChangeArrowheads="1"/>
          </p:cNvPicPr>
          <p:nvPr/>
        </p:nvPicPr>
        <p:blipFill>
          <a:blip r:embed="rId8">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6528397" y="1747464"/>
            <a:ext cx="2419350" cy="24193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厂房图片-厂房设计素材-厂房素材免费下载-万素网">
            <a:extLst>
              <a:ext uri="{FF2B5EF4-FFF2-40B4-BE49-F238E27FC236}">
                <a16:creationId xmlns:a16="http://schemas.microsoft.com/office/drawing/2014/main" id="{5DD307F1-0DED-4167-3D1E-5A7B68237180}"/>
              </a:ext>
            </a:extLst>
          </p:cNvPr>
          <p:cNvPicPr>
            <a:picLocks noChangeAspect="1" noChangeArrowheads="1"/>
          </p:cNvPicPr>
          <p:nvPr/>
        </p:nvPicPr>
        <p:blipFill>
          <a:blip r:embed="rId9">
            <a:clrChange>
              <a:clrFrom>
                <a:srgbClr val="F6F6F6"/>
              </a:clrFrom>
              <a:clrTo>
                <a:srgbClr val="F6F6F6">
                  <a:alpha val="0"/>
                </a:srgbClr>
              </a:clrTo>
            </a:clrChange>
            <a:grayscl/>
            <a:extLst>
              <a:ext uri="{28A0092B-C50C-407E-A947-70E740481C1C}">
                <a14:useLocalDpi xmlns:a14="http://schemas.microsoft.com/office/drawing/2010/main" val="0"/>
              </a:ext>
            </a:extLst>
          </a:blip>
          <a:srcRect/>
          <a:stretch>
            <a:fillRect/>
          </a:stretch>
        </p:blipFill>
        <p:spPr bwMode="auto">
          <a:xfrm>
            <a:off x="10656839" y="5808419"/>
            <a:ext cx="3816392" cy="38163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4C4B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rot="-5400000">
            <a:off x="7366949" y="-1493621"/>
            <a:ext cx="3554104" cy="18288000"/>
            <a:chOff x="0" y="0"/>
            <a:chExt cx="4738806" cy="24384000"/>
          </a:xfrm>
        </p:grpSpPr>
        <p:sp>
          <p:nvSpPr>
            <p:cNvPr id="3" name="Freeform 3"/>
            <p:cNvSpPr/>
            <p:nvPr/>
          </p:nvSpPr>
          <p:spPr>
            <a:xfrm>
              <a:off x="0" y="0"/>
              <a:ext cx="4738806" cy="24384000"/>
            </a:xfrm>
            <a:custGeom>
              <a:avLst/>
              <a:gdLst/>
              <a:ahLst/>
              <a:cxnLst/>
              <a:rect l="l" t="t" r="r" b="b"/>
              <a:pathLst>
                <a:path w="4738806" h="24384000">
                  <a:moveTo>
                    <a:pt x="4738806" y="0"/>
                  </a:moveTo>
                  <a:lnTo>
                    <a:pt x="0" y="0"/>
                  </a:lnTo>
                  <a:lnTo>
                    <a:pt x="0" y="24384000"/>
                  </a:lnTo>
                  <a:lnTo>
                    <a:pt x="4738806" y="24384000"/>
                  </a:lnTo>
                  <a:close/>
                </a:path>
              </a:pathLst>
            </a:custGeom>
            <a:solidFill>
              <a:srgbClr val="262626"/>
            </a:solidFill>
          </p:spPr>
        </p:sp>
      </p:grpSp>
      <p:sp>
        <p:nvSpPr>
          <p:cNvPr id="17" name="矩形 16">
            <a:extLst>
              <a:ext uri="{FF2B5EF4-FFF2-40B4-BE49-F238E27FC236}">
                <a16:creationId xmlns:a16="http://schemas.microsoft.com/office/drawing/2014/main" id="{824A5B66-8403-2A91-D3F9-60C7C59025A9}"/>
              </a:ext>
            </a:extLst>
          </p:cNvPr>
          <p:cNvSpPr/>
          <p:nvPr/>
        </p:nvSpPr>
        <p:spPr>
          <a:xfrm>
            <a:off x="685800" y="2049859"/>
            <a:ext cx="9677400" cy="7208441"/>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AutoShape 5"/>
          <p:cNvSpPr/>
          <p:nvPr/>
        </p:nvSpPr>
        <p:spPr>
          <a:xfrm rot="5392769">
            <a:off x="15197326" y="4895654"/>
            <a:ext cx="4528762" cy="0"/>
          </a:xfrm>
          <a:prstGeom prst="line">
            <a:avLst/>
          </a:prstGeom>
          <a:ln w="9525" cap="rnd">
            <a:solidFill>
              <a:srgbClr val="2C2E38"/>
            </a:solidFill>
            <a:prstDash val="solid"/>
            <a:headEnd type="none" w="sm" len="sm"/>
            <a:tailEnd type="none" w="sm" len="sm"/>
          </a:ln>
        </p:spPr>
      </p:sp>
      <p:sp>
        <p:nvSpPr>
          <p:cNvPr id="6" name="AutoShape 6"/>
          <p:cNvSpPr/>
          <p:nvPr/>
        </p:nvSpPr>
        <p:spPr>
          <a:xfrm flipH="1">
            <a:off x="1149322" y="6258917"/>
            <a:ext cx="9447559" cy="13404"/>
          </a:xfrm>
          <a:prstGeom prst="line">
            <a:avLst/>
          </a:prstGeom>
          <a:ln w="9525" cap="rnd">
            <a:solidFill>
              <a:srgbClr val="262626"/>
            </a:solidFill>
            <a:prstDash val="solid"/>
            <a:headEnd type="none" w="sm" len="sm"/>
            <a:tailEnd type="none" w="sm" len="sm"/>
          </a:ln>
        </p:spPr>
      </p:sp>
      <p:sp>
        <p:nvSpPr>
          <p:cNvPr id="7" name="TextBox 7"/>
          <p:cNvSpPr txBox="1"/>
          <p:nvPr/>
        </p:nvSpPr>
        <p:spPr>
          <a:xfrm>
            <a:off x="3278491" y="453845"/>
            <a:ext cx="11072336" cy="733425"/>
          </a:xfrm>
          <a:prstGeom prst="rect">
            <a:avLst/>
          </a:prstGeom>
        </p:spPr>
        <p:txBody>
          <a:bodyPr lIns="0" tIns="0" rIns="0" bIns="0" rtlCol="0" anchor="t">
            <a:spAutoFit/>
          </a:bodyPr>
          <a:lstStyle/>
          <a:p>
            <a:pPr algn="ctr">
              <a:lnSpc>
                <a:spcPts val="5759"/>
              </a:lnSpc>
            </a:pPr>
            <a:r>
              <a:rPr lang="en-US" sz="4800" dirty="0">
                <a:solidFill>
                  <a:srgbClr val="2C2E38"/>
                </a:solidFill>
                <a:latin typeface="思源宋体-超粗体"/>
              </a:rPr>
              <a:t>45 Degree Double Head Miter Saw</a:t>
            </a:r>
          </a:p>
        </p:txBody>
      </p:sp>
      <p:sp>
        <p:nvSpPr>
          <p:cNvPr id="8" name="Freeform 8"/>
          <p:cNvSpPr/>
          <p:nvPr/>
        </p:nvSpPr>
        <p:spPr>
          <a:xfrm>
            <a:off x="7233" y="28199"/>
            <a:ext cx="2042934" cy="1519607"/>
          </a:xfrm>
          <a:custGeom>
            <a:avLst/>
            <a:gdLst/>
            <a:ahLst/>
            <a:cxnLst/>
            <a:rect l="l" t="t" r="r" b="b"/>
            <a:pathLst>
              <a:path w="2042934" h="1519607">
                <a:moveTo>
                  <a:pt x="0" y="0"/>
                </a:moveTo>
                <a:lnTo>
                  <a:pt x="2042934" y="0"/>
                </a:lnTo>
                <a:lnTo>
                  <a:pt x="2042934" y="1519607"/>
                </a:lnTo>
                <a:lnTo>
                  <a:pt x="0" y="1519607"/>
                </a:lnTo>
                <a:lnTo>
                  <a:pt x="0" y="0"/>
                </a:lnTo>
                <a:close/>
              </a:path>
            </a:pathLst>
          </a:custGeom>
          <a:blipFill>
            <a:blip r:embed="rId2"/>
            <a:stretch>
              <a:fillRect l="-21376" r="-29891"/>
            </a:stretch>
          </a:blipFill>
        </p:spPr>
      </p:sp>
      <p:sp>
        <p:nvSpPr>
          <p:cNvPr id="9" name="Freeform 9"/>
          <p:cNvSpPr/>
          <p:nvPr/>
        </p:nvSpPr>
        <p:spPr>
          <a:xfrm>
            <a:off x="9542740" y="1494026"/>
            <a:ext cx="8777071" cy="4152793"/>
          </a:xfrm>
          <a:custGeom>
            <a:avLst/>
            <a:gdLst/>
            <a:ahLst/>
            <a:cxnLst/>
            <a:rect l="l" t="t" r="r" b="b"/>
            <a:pathLst>
              <a:path w="9144000" h="4247971">
                <a:moveTo>
                  <a:pt x="0" y="0"/>
                </a:moveTo>
                <a:lnTo>
                  <a:pt x="9144000" y="0"/>
                </a:lnTo>
                <a:lnTo>
                  <a:pt x="9144000" y="4247970"/>
                </a:lnTo>
                <a:lnTo>
                  <a:pt x="0" y="4247970"/>
                </a:lnTo>
                <a:lnTo>
                  <a:pt x="0" y="0"/>
                </a:lnTo>
                <a:close/>
              </a:path>
            </a:pathLst>
          </a:custGeom>
          <a:blipFill>
            <a:blip r:embed="rId3"/>
            <a:stretch>
              <a:fillRect l="-5975" r="-2291"/>
            </a:stretch>
          </a:blipFill>
        </p:spPr>
      </p:sp>
      <p:sp>
        <p:nvSpPr>
          <p:cNvPr id="10" name="TextBox 10"/>
          <p:cNvSpPr txBox="1"/>
          <p:nvPr/>
        </p:nvSpPr>
        <p:spPr>
          <a:xfrm rot="5400000">
            <a:off x="16897790" y="1585222"/>
            <a:ext cx="1323824" cy="266568"/>
          </a:xfrm>
          <a:prstGeom prst="rect">
            <a:avLst/>
          </a:prstGeom>
        </p:spPr>
        <p:txBody>
          <a:bodyPr lIns="0" tIns="0" rIns="0" bIns="0" rtlCol="0" anchor="t">
            <a:spAutoFit/>
          </a:bodyPr>
          <a:lstStyle/>
          <a:p>
            <a:pPr algn="l">
              <a:lnSpc>
                <a:spcPts val="2160"/>
              </a:lnSpc>
            </a:pPr>
            <a:r>
              <a:rPr lang="en-US" sz="1800">
                <a:solidFill>
                  <a:srgbClr val="262626"/>
                </a:solidFill>
                <a:latin typeface="Montserrat Ultra-Bold"/>
              </a:rPr>
              <a:t>PRODUCT</a:t>
            </a:r>
          </a:p>
        </p:txBody>
      </p:sp>
      <p:sp>
        <p:nvSpPr>
          <p:cNvPr id="11" name="TextBox 11"/>
          <p:cNvSpPr txBox="1"/>
          <p:nvPr/>
        </p:nvSpPr>
        <p:spPr>
          <a:xfrm rot="5400000">
            <a:off x="16716785" y="1425665"/>
            <a:ext cx="981819" cy="266568"/>
          </a:xfrm>
          <a:prstGeom prst="rect">
            <a:avLst/>
          </a:prstGeom>
        </p:spPr>
        <p:txBody>
          <a:bodyPr lIns="0" tIns="0" rIns="0" bIns="0" rtlCol="0" anchor="t">
            <a:spAutoFit/>
          </a:bodyPr>
          <a:lstStyle/>
          <a:p>
            <a:pPr algn="l">
              <a:lnSpc>
                <a:spcPts val="2160"/>
              </a:lnSpc>
            </a:pPr>
            <a:r>
              <a:rPr lang="en-US" sz="1800">
                <a:solidFill>
                  <a:srgbClr val="AFABAB"/>
                </a:solidFill>
                <a:latin typeface="Montserrat Ultra-Bold"/>
              </a:rPr>
              <a:t>PLAN</a:t>
            </a:r>
          </a:p>
        </p:txBody>
      </p:sp>
      <p:sp>
        <p:nvSpPr>
          <p:cNvPr id="12" name="TextBox 12"/>
          <p:cNvSpPr txBox="1"/>
          <p:nvPr/>
        </p:nvSpPr>
        <p:spPr>
          <a:xfrm>
            <a:off x="1149319" y="2967645"/>
            <a:ext cx="9041157" cy="3165729"/>
          </a:xfrm>
          <a:prstGeom prst="rect">
            <a:avLst/>
          </a:prstGeom>
        </p:spPr>
        <p:txBody>
          <a:bodyPr lIns="0" tIns="0" rIns="0" bIns="0" rtlCol="0" anchor="t">
            <a:spAutoFit/>
          </a:bodyPr>
          <a:lstStyle/>
          <a:p>
            <a:pPr algn="l">
              <a:lnSpc>
                <a:spcPts val="2808"/>
              </a:lnSpc>
            </a:pPr>
            <a:r>
              <a:rPr lang="en-US" sz="1800">
                <a:solidFill>
                  <a:srgbClr val="404040"/>
                </a:solidFill>
                <a:latin typeface="思源黑体"/>
              </a:rPr>
              <a:t>Dual Blade Aluminum Profile Miter Saw - This miter saw features dual blades to simultaneously cut two 45 degree miters in aluminum profiles, ensuring precise angles. It has automatic material clamping and cutting for fast, efficient operation. Ideal for aluminum framing applications such as picture frames, light box panels, doors, windows, cabinets, ceiling panel lights, solar panel aluminum frames, aluminum edging, AC vent outlets, diffuser frames, and more. The dual blade design allows quick, accurate diagonal miter cuts in aluminum, with integrated clamping to securely hold profiles during cutting. Perfect for high-volume aluminum fabrication shops producing framed products.</a:t>
            </a:r>
          </a:p>
        </p:txBody>
      </p:sp>
      <p:sp>
        <p:nvSpPr>
          <p:cNvPr id="13" name="TextBox 13"/>
          <p:cNvSpPr txBox="1"/>
          <p:nvPr/>
        </p:nvSpPr>
        <p:spPr>
          <a:xfrm>
            <a:off x="1149319" y="2251784"/>
            <a:ext cx="4118638" cy="552450"/>
          </a:xfrm>
          <a:prstGeom prst="rect">
            <a:avLst/>
          </a:prstGeom>
        </p:spPr>
        <p:txBody>
          <a:bodyPr lIns="0" tIns="0" rIns="0" bIns="0" rtlCol="0" anchor="t">
            <a:spAutoFit/>
          </a:bodyPr>
          <a:lstStyle/>
          <a:p>
            <a:pPr algn="ctr">
              <a:lnSpc>
                <a:spcPts val="4320"/>
              </a:lnSpc>
            </a:pPr>
            <a:r>
              <a:rPr lang="en-US" sz="3600">
                <a:solidFill>
                  <a:srgbClr val="2C2E38"/>
                </a:solidFill>
                <a:latin typeface="思源宋体-超粗体"/>
              </a:rPr>
              <a:t>Product Features</a:t>
            </a:r>
          </a:p>
        </p:txBody>
      </p:sp>
      <p:sp>
        <p:nvSpPr>
          <p:cNvPr id="14" name="TextBox 14"/>
          <p:cNvSpPr txBox="1"/>
          <p:nvPr/>
        </p:nvSpPr>
        <p:spPr>
          <a:xfrm>
            <a:off x="7414174" y="1187270"/>
            <a:ext cx="3459652" cy="409575"/>
          </a:xfrm>
          <a:prstGeom prst="rect">
            <a:avLst/>
          </a:prstGeom>
        </p:spPr>
        <p:txBody>
          <a:bodyPr lIns="0" tIns="0" rIns="0" bIns="0" rtlCol="0" anchor="t">
            <a:spAutoFit/>
          </a:bodyPr>
          <a:lstStyle/>
          <a:p>
            <a:pPr algn="ctr">
              <a:lnSpc>
                <a:spcPts val="3240"/>
              </a:lnSpc>
            </a:pPr>
            <a:r>
              <a:rPr lang="en-US" sz="2700" dirty="0">
                <a:solidFill>
                  <a:srgbClr val="F46F25"/>
                </a:solidFill>
                <a:latin typeface="Montserrat"/>
              </a:rPr>
              <a:t>45度双头切角机</a:t>
            </a:r>
          </a:p>
        </p:txBody>
      </p:sp>
      <p:sp>
        <p:nvSpPr>
          <p:cNvPr id="15" name="TextBox 15"/>
          <p:cNvSpPr txBox="1"/>
          <p:nvPr/>
        </p:nvSpPr>
        <p:spPr>
          <a:xfrm>
            <a:off x="14952666" y="526065"/>
            <a:ext cx="3367145" cy="266700"/>
          </a:xfrm>
          <a:prstGeom prst="rect">
            <a:avLst/>
          </a:prstGeom>
        </p:spPr>
        <p:txBody>
          <a:bodyPr lIns="0" tIns="0" rIns="0" bIns="0" rtlCol="0" anchor="t">
            <a:spAutoFit/>
          </a:bodyPr>
          <a:lstStyle/>
          <a:p>
            <a:pPr algn="ctr">
              <a:lnSpc>
                <a:spcPts val="2160"/>
              </a:lnSpc>
            </a:pPr>
            <a:r>
              <a:rPr lang="en-US" sz="1800">
                <a:solidFill>
                  <a:srgbClr val="262626"/>
                </a:solidFill>
                <a:latin typeface="Montserrat Ultra-Bold"/>
              </a:rPr>
              <a:t>Product Brochure</a:t>
            </a:r>
          </a:p>
        </p:txBody>
      </p:sp>
      <p:sp>
        <p:nvSpPr>
          <p:cNvPr id="16" name="TextBox 16"/>
          <p:cNvSpPr txBox="1"/>
          <p:nvPr/>
        </p:nvSpPr>
        <p:spPr>
          <a:xfrm>
            <a:off x="15664555" y="9765439"/>
            <a:ext cx="2096191" cy="266700"/>
          </a:xfrm>
          <a:prstGeom prst="rect">
            <a:avLst/>
          </a:prstGeom>
        </p:spPr>
        <p:txBody>
          <a:bodyPr lIns="0" tIns="0" rIns="0" bIns="0" rtlCol="0" anchor="t">
            <a:spAutoFit/>
          </a:bodyPr>
          <a:lstStyle/>
          <a:p>
            <a:pPr algn="r">
              <a:lnSpc>
                <a:spcPts val="2160"/>
              </a:lnSpc>
            </a:pPr>
            <a:r>
              <a:rPr lang="en-US" sz="1800">
                <a:solidFill>
                  <a:srgbClr val="000000"/>
                </a:solidFill>
                <a:latin typeface="Montserrat Bold"/>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4C4BA">
                <a:alpha val="100000"/>
              </a:srgbClr>
            </a:gs>
          </a:gsLst>
          <a:lin ang="2700000"/>
        </a:gra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9D98880F-2167-E669-F7E2-88162D86E785}"/>
              </a:ext>
            </a:extLst>
          </p:cNvPr>
          <p:cNvSpPr/>
          <p:nvPr/>
        </p:nvSpPr>
        <p:spPr>
          <a:xfrm>
            <a:off x="11049000" y="2154982"/>
            <a:ext cx="4416815" cy="581419"/>
          </a:xfrm>
          <a:prstGeom prst="rect">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Group 2"/>
          <p:cNvGrpSpPr/>
          <p:nvPr/>
        </p:nvGrpSpPr>
        <p:grpSpPr>
          <a:xfrm rot="-5400000">
            <a:off x="7840235" y="-1020335"/>
            <a:ext cx="2607531" cy="18288000"/>
            <a:chOff x="0" y="0"/>
            <a:chExt cx="4738806" cy="24384000"/>
          </a:xfrm>
        </p:grpSpPr>
        <p:sp>
          <p:nvSpPr>
            <p:cNvPr id="3" name="Freeform 3"/>
            <p:cNvSpPr/>
            <p:nvPr/>
          </p:nvSpPr>
          <p:spPr>
            <a:xfrm>
              <a:off x="0" y="0"/>
              <a:ext cx="4738806" cy="24384000"/>
            </a:xfrm>
            <a:custGeom>
              <a:avLst/>
              <a:gdLst/>
              <a:ahLst/>
              <a:cxnLst/>
              <a:rect l="l" t="t" r="r" b="b"/>
              <a:pathLst>
                <a:path w="4738806" h="24384000">
                  <a:moveTo>
                    <a:pt x="4738806" y="0"/>
                  </a:moveTo>
                  <a:lnTo>
                    <a:pt x="0" y="0"/>
                  </a:lnTo>
                  <a:lnTo>
                    <a:pt x="0" y="24384000"/>
                  </a:lnTo>
                  <a:lnTo>
                    <a:pt x="4738806" y="24384000"/>
                  </a:lnTo>
                  <a:close/>
                </a:path>
              </a:pathLst>
            </a:custGeom>
            <a:solidFill>
              <a:srgbClr val="262626"/>
            </a:solidFill>
          </p:spPr>
        </p:sp>
      </p:grpSp>
      <p:sp>
        <p:nvSpPr>
          <p:cNvPr id="5" name="AutoShape 5"/>
          <p:cNvSpPr/>
          <p:nvPr/>
        </p:nvSpPr>
        <p:spPr>
          <a:xfrm rot="5392769">
            <a:off x="15197326" y="4895654"/>
            <a:ext cx="4528762" cy="0"/>
          </a:xfrm>
          <a:prstGeom prst="line">
            <a:avLst/>
          </a:prstGeom>
          <a:ln w="9525" cap="rnd">
            <a:solidFill>
              <a:srgbClr val="2C2E38"/>
            </a:solidFill>
            <a:prstDash val="solid"/>
            <a:headEnd type="none" w="sm" len="sm"/>
            <a:tailEnd type="none" w="sm" len="sm"/>
          </a:ln>
        </p:spPr>
      </p:sp>
      <p:sp>
        <p:nvSpPr>
          <p:cNvPr id="7" name="TextBox 7"/>
          <p:cNvSpPr txBox="1"/>
          <p:nvPr/>
        </p:nvSpPr>
        <p:spPr>
          <a:xfrm>
            <a:off x="3278491" y="453845"/>
            <a:ext cx="11072336" cy="733425"/>
          </a:xfrm>
          <a:prstGeom prst="rect">
            <a:avLst/>
          </a:prstGeom>
        </p:spPr>
        <p:txBody>
          <a:bodyPr lIns="0" tIns="0" rIns="0" bIns="0" rtlCol="0" anchor="t">
            <a:spAutoFit/>
          </a:bodyPr>
          <a:lstStyle/>
          <a:p>
            <a:pPr algn="ctr">
              <a:lnSpc>
                <a:spcPts val="5759"/>
              </a:lnSpc>
            </a:pPr>
            <a:r>
              <a:rPr lang="en-US" sz="4800" dirty="0">
                <a:solidFill>
                  <a:srgbClr val="2C2E38"/>
                </a:solidFill>
                <a:latin typeface="思源宋体-超粗体"/>
              </a:rPr>
              <a:t>45 Degree Double Head Miter Saw</a:t>
            </a:r>
          </a:p>
        </p:txBody>
      </p:sp>
      <p:sp>
        <p:nvSpPr>
          <p:cNvPr id="8" name="Freeform 8"/>
          <p:cNvSpPr/>
          <p:nvPr/>
        </p:nvSpPr>
        <p:spPr>
          <a:xfrm>
            <a:off x="7233" y="28199"/>
            <a:ext cx="2042934" cy="1519607"/>
          </a:xfrm>
          <a:custGeom>
            <a:avLst/>
            <a:gdLst/>
            <a:ahLst/>
            <a:cxnLst/>
            <a:rect l="l" t="t" r="r" b="b"/>
            <a:pathLst>
              <a:path w="2042934" h="1519607">
                <a:moveTo>
                  <a:pt x="0" y="0"/>
                </a:moveTo>
                <a:lnTo>
                  <a:pt x="2042934" y="0"/>
                </a:lnTo>
                <a:lnTo>
                  <a:pt x="2042934" y="1519607"/>
                </a:lnTo>
                <a:lnTo>
                  <a:pt x="0" y="1519607"/>
                </a:lnTo>
                <a:lnTo>
                  <a:pt x="0" y="0"/>
                </a:lnTo>
                <a:close/>
              </a:path>
            </a:pathLst>
          </a:custGeom>
          <a:blipFill>
            <a:blip r:embed="rId2"/>
            <a:stretch>
              <a:fillRect l="-21376" r="-29891"/>
            </a:stretch>
          </a:blipFill>
        </p:spPr>
      </p:sp>
      <p:sp>
        <p:nvSpPr>
          <p:cNvPr id="9" name="Freeform 9"/>
          <p:cNvSpPr/>
          <p:nvPr/>
        </p:nvSpPr>
        <p:spPr>
          <a:xfrm>
            <a:off x="328840" y="1767735"/>
            <a:ext cx="8436424" cy="4189575"/>
          </a:xfrm>
          <a:custGeom>
            <a:avLst/>
            <a:gdLst/>
            <a:ahLst/>
            <a:cxnLst/>
            <a:rect l="l" t="t" r="r" b="b"/>
            <a:pathLst>
              <a:path w="9144000" h="4247971">
                <a:moveTo>
                  <a:pt x="0" y="0"/>
                </a:moveTo>
                <a:lnTo>
                  <a:pt x="9144000" y="0"/>
                </a:lnTo>
                <a:lnTo>
                  <a:pt x="9144000" y="4247970"/>
                </a:lnTo>
                <a:lnTo>
                  <a:pt x="0" y="4247970"/>
                </a:lnTo>
                <a:lnTo>
                  <a:pt x="0" y="0"/>
                </a:lnTo>
                <a:close/>
              </a:path>
            </a:pathLst>
          </a:custGeom>
          <a:blipFill>
            <a:blip r:embed="rId3"/>
            <a:stretch>
              <a:fillRect l="-5975" r="-2291"/>
            </a:stretch>
          </a:blipFill>
        </p:spPr>
      </p:sp>
      <p:sp>
        <p:nvSpPr>
          <p:cNvPr id="10" name="TextBox 10"/>
          <p:cNvSpPr txBox="1"/>
          <p:nvPr/>
        </p:nvSpPr>
        <p:spPr>
          <a:xfrm rot="5400000">
            <a:off x="16897790" y="1585222"/>
            <a:ext cx="1323824" cy="266568"/>
          </a:xfrm>
          <a:prstGeom prst="rect">
            <a:avLst/>
          </a:prstGeom>
        </p:spPr>
        <p:txBody>
          <a:bodyPr lIns="0" tIns="0" rIns="0" bIns="0" rtlCol="0" anchor="t">
            <a:spAutoFit/>
          </a:bodyPr>
          <a:lstStyle/>
          <a:p>
            <a:pPr algn="l">
              <a:lnSpc>
                <a:spcPts val="2160"/>
              </a:lnSpc>
            </a:pPr>
            <a:r>
              <a:rPr lang="en-US" sz="1800">
                <a:solidFill>
                  <a:srgbClr val="262626"/>
                </a:solidFill>
                <a:latin typeface="Montserrat Ultra-Bold"/>
              </a:rPr>
              <a:t>PRODUCT</a:t>
            </a:r>
          </a:p>
        </p:txBody>
      </p:sp>
      <p:sp>
        <p:nvSpPr>
          <p:cNvPr id="11" name="TextBox 11"/>
          <p:cNvSpPr txBox="1"/>
          <p:nvPr/>
        </p:nvSpPr>
        <p:spPr>
          <a:xfrm rot="5400000">
            <a:off x="16716785" y="1425665"/>
            <a:ext cx="981819" cy="266568"/>
          </a:xfrm>
          <a:prstGeom prst="rect">
            <a:avLst/>
          </a:prstGeom>
        </p:spPr>
        <p:txBody>
          <a:bodyPr lIns="0" tIns="0" rIns="0" bIns="0" rtlCol="0" anchor="t">
            <a:spAutoFit/>
          </a:bodyPr>
          <a:lstStyle/>
          <a:p>
            <a:pPr algn="l">
              <a:lnSpc>
                <a:spcPts val="2160"/>
              </a:lnSpc>
            </a:pPr>
            <a:r>
              <a:rPr lang="en-US" sz="1800">
                <a:solidFill>
                  <a:srgbClr val="AFABAB"/>
                </a:solidFill>
                <a:latin typeface="Montserrat Ultra-Bold"/>
              </a:rPr>
              <a:t>PLAN</a:t>
            </a:r>
          </a:p>
        </p:txBody>
      </p:sp>
      <p:sp>
        <p:nvSpPr>
          <p:cNvPr id="12" name="TextBox 12"/>
          <p:cNvSpPr txBox="1"/>
          <p:nvPr/>
        </p:nvSpPr>
        <p:spPr>
          <a:xfrm>
            <a:off x="9317605" y="2959062"/>
            <a:ext cx="7818231" cy="3556038"/>
          </a:xfrm>
          <a:prstGeom prst="rect">
            <a:avLst/>
          </a:prstGeom>
        </p:spPr>
        <p:txBody>
          <a:bodyPr wrap="square" lIns="0" tIns="0" rIns="0" bIns="0" rtlCol="0" anchor="t">
            <a:spAutoFit/>
          </a:bodyPr>
          <a:lstStyle/>
          <a:p>
            <a:pPr algn="just">
              <a:lnSpc>
                <a:spcPts val="2808"/>
              </a:lnSpc>
            </a:pPr>
            <a:r>
              <a:rPr lang="en-US" sz="1800" dirty="0">
                <a:solidFill>
                  <a:schemeClr val="tx1">
                    <a:lumMod val="65000"/>
                    <a:lumOff val="35000"/>
                  </a:schemeClr>
                </a:solidFill>
                <a:latin typeface="思源黑体"/>
              </a:rPr>
              <a:t>Dual Blade Aluminum Profile Miter Saw - This miter saw features dual blades to simultaneously cut two 45 degree miters in aluminum profiles, ensuring precise angles. It has automatic material clamping and cutting for fast, efficient operation. Ideal for aluminum framing applications such as picture frames, light box panels, doors, windows, cabinets, ceiling panel lights, solar panel aluminum frames, aluminum edging, AC vent outlets, diffuser frames, and more. The dual blade design allows quick, accurate diagonal miter cuts in aluminum, with integrated clamping to securely hold profiles during cutting. Perfect for high-volume aluminum fabrication shops producing framed products.</a:t>
            </a:r>
          </a:p>
        </p:txBody>
      </p:sp>
      <p:sp>
        <p:nvSpPr>
          <p:cNvPr id="13" name="TextBox 13"/>
          <p:cNvSpPr txBox="1"/>
          <p:nvPr/>
        </p:nvSpPr>
        <p:spPr>
          <a:xfrm>
            <a:off x="11198089" y="2152604"/>
            <a:ext cx="4118638" cy="511550"/>
          </a:xfrm>
          <a:prstGeom prst="rect">
            <a:avLst/>
          </a:prstGeom>
        </p:spPr>
        <p:txBody>
          <a:bodyPr lIns="0" tIns="0" rIns="0" bIns="0" rtlCol="0" anchor="t">
            <a:spAutoFit/>
          </a:bodyPr>
          <a:lstStyle/>
          <a:p>
            <a:pPr algn="ctr">
              <a:lnSpc>
                <a:spcPts val="4320"/>
              </a:lnSpc>
            </a:pPr>
            <a:r>
              <a:rPr lang="en-US" sz="3000" dirty="0">
                <a:solidFill>
                  <a:schemeClr val="bg1"/>
                </a:solidFill>
                <a:latin typeface="思源宋体-超粗体"/>
              </a:rPr>
              <a:t>Product Features</a:t>
            </a:r>
          </a:p>
        </p:txBody>
      </p:sp>
      <p:sp>
        <p:nvSpPr>
          <p:cNvPr id="14" name="TextBox 14"/>
          <p:cNvSpPr txBox="1"/>
          <p:nvPr/>
        </p:nvSpPr>
        <p:spPr>
          <a:xfrm>
            <a:off x="7414174" y="1187270"/>
            <a:ext cx="3459652" cy="409575"/>
          </a:xfrm>
          <a:prstGeom prst="rect">
            <a:avLst/>
          </a:prstGeom>
        </p:spPr>
        <p:txBody>
          <a:bodyPr lIns="0" tIns="0" rIns="0" bIns="0" rtlCol="0" anchor="t">
            <a:spAutoFit/>
          </a:bodyPr>
          <a:lstStyle/>
          <a:p>
            <a:pPr algn="ctr">
              <a:lnSpc>
                <a:spcPts val="3240"/>
              </a:lnSpc>
            </a:pPr>
            <a:r>
              <a:rPr lang="en-US" sz="2700" dirty="0">
                <a:solidFill>
                  <a:srgbClr val="F46F25"/>
                </a:solidFill>
                <a:latin typeface="Montserrat"/>
              </a:rPr>
              <a:t>45度双头切角机</a:t>
            </a:r>
          </a:p>
        </p:txBody>
      </p:sp>
      <p:sp>
        <p:nvSpPr>
          <p:cNvPr id="15" name="TextBox 15"/>
          <p:cNvSpPr txBox="1"/>
          <p:nvPr/>
        </p:nvSpPr>
        <p:spPr>
          <a:xfrm>
            <a:off x="14952666" y="526065"/>
            <a:ext cx="3367145" cy="266700"/>
          </a:xfrm>
          <a:prstGeom prst="rect">
            <a:avLst/>
          </a:prstGeom>
        </p:spPr>
        <p:txBody>
          <a:bodyPr lIns="0" tIns="0" rIns="0" bIns="0" rtlCol="0" anchor="t">
            <a:spAutoFit/>
          </a:bodyPr>
          <a:lstStyle/>
          <a:p>
            <a:pPr algn="ctr">
              <a:lnSpc>
                <a:spcPts val="2160"/>
              </a:lnSpc>
            </a:pPr>
            <a:r>
              <a:rPr lang="en-US" sz="1800">
                <a:solidFill>
                  <a:srgbClr val="262626"/>
                </a:solidFill>
                <a:latin typeface="Montserrat Ultra-Bold"/>
              </a:rPr>
              <a:t>Product Brochure</a:t>
            </a:r>
          </a:p>
        </p:txBody>
      </p:sp>
      <p:sp>
        <p:nvSpPr>
          <p:cNvPr id="16" name="TextBox 16"/>
          <p:cNvSpPr txBox="1"/>
          <p:nvPr/>
        </p:nvSpPr>
        <p:spPr>
          <a:xfrm>
            <a:off x="15664555" y="9765439"/>
            <a:ext cx="2096191" cy="266700"/>
          </a:xfrm>
          <a:prstGeom prst="rect">
            <a:avLst/>
          </a:prstGeom>
        </p:spPr>
        <p:txBody>
          <a:bodyPr lIns="0" tIns="0" rIns="0" bIns="0" rtlCol="0" anchor="t">
            <a:spAutoFit/>
          </a:bodyPr>
          <a:lstStyle/>
          <a:p>
            <a:pPr algn="r">
              <a:lnSpc>
                <a:spcPts val="2160"/>
              </a:lnSpc>
            </a:pPr>
            <a:r>
              <a:rPr lang="en-US" sz="1800">
                <a:solidFill>
                  <a:srgbClr val="000000"/>
                </a:solidFill>
                <a:latin typeface="Montserrat Bold"/>
              </a:rPr>
              <a:t>5</a:t>
            </a:r>
          </a:p>
        </p:txBody>
      </p:sp>
    </p:spTree>
    <p:extLst>
      <p:ext uri="{BB962C8B-B14F-4D97-AF65-F5344CB8AC3E}">
        <p14:creationId xmlns:p14="http://schemas.microsoft.com/office/powerpoint/2010/main" val="1003402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100000"/>
              </a:srgbClr>
            </a:gs>
            <a:gs pos="100000">
              <a:srgbClr val="E4C4BA">
                <a:alpha val="100000"/>
              </a:srgbClr>
            </a:gs>
          </a:gsLst>
          <a:lin ang="270000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0873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1680</TotalTime>
  <Words>787</Words>
  <Application>Microsoft Macintosh PowerPoint</Application>
  <PresentationFormat>自定义</PresentationFormat>
  <Paragraphs>123</Paragraphs>
  <Slides>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Arial</vt:lpstr>
      <vt:lpstr>Montserrat Ultra-Bold</vt:lpstr>
      <vt:lpstr>Montserrat</vt:lpstr>
      <vt:lpstr>Calibri</vt:lpstr>
      <vt:lpstr>Montserrat Bold</vt:lpstr>
      <vt:lpstr>思源宋体-超粗体</vt:lpstr>
      <vt:lpstr>思源黑体</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ZHUNFA MACHINE</dc:title>
  <cp:lastModifiedBy>TangZhenni</cp:lastModifiedBy>
  <cp:revision>4</cp:revision>
  <dcterms:created xsi:type="dcterms:W3CDTF">2006-08-16T00:00:00Z</dcterms:created>
  <dcterms:modified xsi:type="dcterms:W3CDTF">2023-10-07T08:28:29Z</dcterms:modified>
  <dc:identifier>DAFwYzX2Jxs</dc:identifier>
</cp:coreProperties>
</file>